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fc4de83-d3d8-2c6d-e9c7-0d46b69a054c}">
          <p14:sldIdLst>
            <p14:sldId id="256"/>
          </p14:sldIdLst>
        </p14:section>
        <p14:section name="Problem" id="{6a7eba4e-c8e7-c0b5-cb68-16becfef26e3}">
          <p14:sldIdLst>
            <p14:sldId id="257"/>
          </p14:sldIdLst>
        </p14:section>
        <p14:section name="Data" id="{0e225502-1d81-0be2-c0f3-5020adbdd847}">
          <p14:sldIdLst>
            <p14:sldId id="258"/>
            <p14:sldId id="259"/>
          </p14:sldIdLst>
        </p14:section>
        <p14:section name="Method" id="{415a9f55-65cf-4c71-ca7c-96e7d6ba6248}">
          <p14:sldIdLst>
            <p14:sldId id="260"/>
            <p14:sldId id="261"/>
          </p14:sldIdLst>
        </p14:section>
        <p14:section name="Results" id="{9ebdf705-39f0-b3af-76be-2342ad44b379}">
          <p14:sldIdLst>
            <p14:sldId id="262"/>
            <p14:sldId id="263"/>
            <p14:sldId id="264"/>
          </p14:sldIdLst>
        </p14:section>
        <p14:section name="Closing" id="{6825f452-8ccf-c769-e1ea-22afc0f9863e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Virtual sensor for PMSM winding temperature. Headline: 1.54 degrees C RMSE on two entire motor sessions never seen in training. The whole result comes from feature engineering grounded in the thermal physics, not from model selection.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Average error is the wrong headline for a safety limit: 1 degree mean error with a 20 degree spike still destroys a motor. That is why we also report max error and the fraction of samples within plus-minus 2 degrees.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naive reading of the correlation plot is 'weak signal, hard problem'. The correct reading is that the relationship is not instantaneous - which is what the next slide shows.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slide. The thermal ODE's solution IS an EWMA, so the feature is not a heuristic - it is the analytical form of the physics. This is why even a linear model reaches R-squared 0.99 once the features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EWMA is computed within a profile_id group. Letting a recursive filter run across a session boundary would import the thermal state of an unrelated recording - silent leakage.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leakage study is deliberate: 0.9995 is the number most projects on this dataset report. We show what it looks like and then report the honest one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worst-case error were the selection criterion - and for a protection function it arguably should be - tuned HistGradientBoosting would be the better choice. Selecting on RMSE and then disclosing max error is the honest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7.7 hours of running, 55,395 samples, two complete sessions. The estimate tracks every ramp, plateau and cool-down, with visible divergence only in the opening minutes of profile 72 - the warm-up 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feature-importance result is the strongest available evidence that the result is not an artefact: the model's most-used features are the two terms a lumped thermal model would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two sentences worth remembering: the result came from understanding the physics rather than trying models, and the evaluation protocol changes the headline by 3.8x.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C21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66928" y="1417320"/>
            <a:ext cx="11057839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50" b="1" spc="240" kern="0" dirty="0">
                <a:solidFill>
                  <a:srgbClr val="E8833A"/>
                </a:solidFill>
              </a:defRPr>
            </a:lvl1pPr>
          </a:lstStyle>
          <a:p>
            <a:pPr indent="0" marL="0">
              <a:buNone/>
            </a:pPr>
            <a:endParaRPr lang="en-US" sz="125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66928" y="1783080"/>
            <a:ext cx="11057839" cy="138988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66928" y="3127248"/>
            <a:ext cx="8863279" cy="7680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ts val="2100"/>
              </a:lnSpc>
              <a:buNone/>
              <a:defRPr lang="en-US" sz="1450" dirty="0">
                <a:solidFill>
                  <a:srgbClr val="C9CFD6"/>
                </a:solidFill>
              </a:defRPr>
            </a:lvl1pPr>
          </a:lstStyle>
          <a:p>
            <a:pPr indent="0" marL="0">
              <a:lnSpc>
                <a:spcPts val="2100"/>
              </a:lnSpc>
              <a:buNone/>
            </a:pPr>
            <a:endParaRPr lang="en-US" sz="145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66928" y="5376672"/>
            <a:ext cx="11057839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ts val="1900"/>
              </a:lnSpc>
              <a:buNone/>
              <a:defRPr lang="en-US" sz="1250" dirty="0">
                <a:solidFill>
                  <a:srgbClr val="9AA4B0"/>
                </a:solidFill>
              </a:defRPr>
            </a:lvl1pPr>
          </a:lstStyle>
          <a:p>
            <a:pPr indent="0" marL="0">
              <a:lnSpc>
                <a:spcPts val="1900"/>
              </a:lnSpc>
              <a:buNone/>
            </a:pPr>
            <a:endParaRPr lang="en-US" sz="12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66928" y="347472"/>
            <a:ext cx="10051999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66928" y="877824"/>
            <a:ext cx="10051999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i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6473952"/>
            <a:ext cx="102348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2BC"/>
                </a:solidFill>
              </a:rPr>
              <a:t>UCS321 AI for Engineers  |  PMSM Thermal Virtual Sensor  |  Lohhith Thakur (1025220020)</a:t>
            </a:r>
            <a:endParaRPr lang="en-US" sz="85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10801807" y="6455664"/>
            <a:ext cx="82296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dirty="0">
                <a:solidFill>
                  <a:srgbClr val="1F4E79"/>
                </a:solidFill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C21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" cy="685800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66928" y="347472"/>
            <a:ext cx="10051999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66928" y="877824"/>
            <a:ext cx="10051999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i="1" dirty="0">
                <a:solidFill>
                  <a:srgbClr val="9AA4B0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6473952"/>
            <a:ext cx="102348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</a:rPr>
              <a:t>UCS321 AI for Engineers  |  PMSM Thermal Virtual Sensor  |  Lohhith Thakur (1025220020)</a:t>
            </a:r>
            <a:endParaRPr lang="en-US" sz="85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10801807" y="6455664"/>
            <a:ext cx="82296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b="1" dirty="0">
                <a:solidFill>
                  <a:srgbClr val="E8833A"/>
                </a:solidFill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66928" y="141732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40" kern="0" dirty="0">
                <a:solidFill>
                  <a:srgbClr val="E8833A"/>
                </a:solidFill>
              </a:rPr>
              <a:t>UCS321 - AI FOR ENGINEERS  |  MST MINI PROJECT</a:t>
            </a:r>
            <a:endParaRPr lang="en-US" sz="12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66928" y="1783080"/>
            <a:ext cx="11057839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Predicting Electric Motor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Winding Temperature</a:t>
            </a:r>
            <a:endParaRPr lang="en-US" sz="4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66928" y="3127248"/>
            <a:ext cx="8863279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9CFD6"/>
                </a:solidFill>
              </a:rPr>
              <a:t>A physics-driven virtual sensor that estimates PMSM stator winding temperature from signals the drive already measures - replacing a thermocouple with software.</a:t>
            </a:r>
            <a:endParaRPr lang="en-US" sz="145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566928" y="5376672"/>
            <a:ext cx="11057839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C9CFD6"/>
                </a:solidFill>
              </a:rPr>
              <a:t>Problem Statement 6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AA4B0"/>
                </a:solidFill>
              </a:rPr>
              <a:t>GE Power Systems - supervised regression for motor temperature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AA4B0"/>
                </a:solidFill>
              </a:rPr>
              <a:t>Lohhith Thakur  -  Roll No. 1025220020  -  B.E. Electronics (VLSI Design &amp; Technology)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AA4B0"/>
                </a:solidFill>
              </a:rPr>
              <a:t>Thapar Institute of Engineering &amp; Technology, Patiala</a:t>
            </a:r>
            <a:endParaRPr lang="en-US" sz="1250" dirty="0"/>
          </a:p>
        </p:txBody>
      </p:sp>
      <p:sp>
        <p:nvSpPr>
          <p:cNvPr id="6" name="tile-RMSE on unseen motor sessions"/>
          <p:cNvSpPr/>
          <p:nvPr/>
        </p:nvSpPr>
        <p:spPr>
          <a:xfrm>
            <a:off x="1657807" y="4041648"/>
            <a:ext cx="2340864" cy="1152144"/>
          </a:xfrm>
          <a:prstGeom prst="roundRect">
            <a:avLst>
              <a:gd name="adj" fmla="val 5556"/>
            </a:avLst>
          </a:prstGeom>
          <a:solidFill>
            <a:srgbClr val="262D36"/>
          </a:solidFill>
          <a:ln w="12700">
            <a:solidFill>
              <a:srgbClr val="262D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57807" y="4160520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1.54 °C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749247" y="4709160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4B0"/>
                </a:solidFill>
              </a:rPr>
              <a:t>RMSE on unseen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0"/>
                </a:solidFill>
              </a:rPr>
              <a:t>motor sessions</a:t>
            </a:r>
            <a:endParaRPr lang="en-US" sz="1000" dirty="0"/>
          </a:p>
        </p:txBody>
      </p:sp>
      <p:sp>
        <p:nvSpPr>
          <p:cNvPr id="9" name="tile-coefficient of determination R2"/>
          <p:cNvSpPr/>
          <p:nvPr/>
        </p:nvSpPr>
        <p:spPr>
          <a:xfrm>
            <a:off x="4199839" y="4041648"/>
            <a:ext cx="2340864" cy="1152144"/>
          </a:xfrm>
          <a:prstGeom prst="roundRect">
            <a:avLst>
              <a:gd name="adj" fmla="val 5556"/>
            </a:avLst>
          </a:prstGeom>
          <a:solidFill>
            <a:srgbClr val="262D36"/>
          </a:solidFill>
          <a:ln w="12700">
            <a:solidFill>
              <a:srgbClr val="262D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99839" y="4160520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0.9965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291279" y="4709160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4B0"/>
                </a:solidFill>
              </a:rPr>
              <a:t>coefficient of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0"/>
                </a:solidFill>
              </a:rPr>
              <a:t>determination R2</a:t>
            </a:r>
            <a:endParaRPr lang="en-US" sz="1000" dirty="0"/>
          </a:p>
        </p:txBody>
      </p:sp>
      <p:sp>
        <p:nvSpPr>
          <p:cNvPr id="12" name="tile-features engineered from 8 raw channels"/>
          <p:cNvSpPr/>
          <p:nvPr/>
        </p:nvSpPr>
        <p:spPr>
          <a:xfrm>
            <a:off x="6741871" y="4041648"/>
            <a:ext cx="2340864" cy="1152144"/>
          </a:xfrm>
          <a:prstGeom prst="roundRect">
            <a:avLst>
              <a:gd name="adj" fmla="val 5556"/>
            </a:avLst>
          </a:prstGeom>
          <a:solidFill>
            <a:srgbClr val="262D36"/>
          </a:solidFill>
          <a:ln w="12700">
            <a:solidFill>
              <a:srgbClr val="262D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41871" y="4160520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833311" y="4709160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4B0"/>
                </a:solidFill>
              </a:rPr>
              <a:t>features engineered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0"/>
                </a:solidFill>
              </a:rPr>
              <a:t>from 8 raw channels</a:t>
            </a:r>
            <a:endParaRPr lang="en-US" sz="1000" dirty="0"/>
          </a:p>
        </p:txBody>
      </p:sp>
      <p:sp>
        <p:nvSpPr>
          <p:cNvPr id="15" name="tile-of samples within ±2 °C of truth"/>
          <p:cNvSpPr/>
          <p:nvPr/>
        </p:nvSpPr>
        <p:spPr>
          <a:xfrm>
            <a:off x="9283903" y="4041648"/>
            <a:ext cx="2340864" cy="1152144"/>
          </a:xfrm>
          <a:prstGeom prst="roundRect">
            <a:avLst>
              <a:gd name="adj" fmla="val 5556"/>
            </a:avLst>
          </a:prstGeom>
          <a:solidFill>
            <a:srgbClr val="262D36"/>
          </a:solidFill>
          <a:ln w="12700">
            <a:solidFill>
              <a:srgbClr val="262D3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83903" y="4160520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84.2 %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9375343" y="4709160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4B0"/>
                </a:solidFill>
              </a:rPr>
              <a:t>of samples within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0"/>
                </a:solidFill>
              </a:rPr>
              <a:t>±2 °C of truth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347472"/>
            <a:ext cx="1005199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problem: you cannot measure what matters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66928" y="877824"/>
            <a:ext cx="1005199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Winding temperature bounds how hard a motor may be driven - and it is the one you cannot cheaply measure</a:t>
            </a:r>
            <a:endParaRPr lang="en-US" sz="13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10801807" y="645566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</a:rPr>
              <a:t>2 / 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63040"/>
            <a:ext cx="5989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PMSM fails when its stator winding insulation cooks. Class-H insulation is rated to ~180 °C; insulation life halves for every ~10 °C of sustained overtemperature.</a:t>
            </a:r>
            <a:endParaRPr lang="en-US" sz="1400" dirty="0"/>
          </a:p>
          <a:p>
            <a:pPr marL="203200" indent="-2032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Fitting a thermocouple to a varnished, high-voltage winding means extra wiring through a sealed housing, an extra failure mode, and a cost that does not survive a volume BOM.</a:t>
            </a:r>
            <a:endParaRPr lang="en-US" sz="1400" dirty="0"/>
          </a:p>
          <a:p>
            <a:pPr marL="203200" indent="-2032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 benches have these sensors. Shipped motors do not - so drives must derate conservatively and give up torque the machine could physically deliver.</a:t>
            </a:r>
            <a:endParaRPr lang="en-US" sz="1400" dirty="0"/>
          </a:p>
          <a:p>
            <a:pPr marL="203200" indent="-2032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drive already measures, for free, the eight quantities it needs for field-oriented control.</a:t>
            </a:r>
            <a:endParaRPr lang="en-US" sz="1400" dirty="0"/>
          </a:p>
        </p:txBody>
      </p:sp>
      <p:sp>
        <p:nvSpPr>
          <p:cNvPr id="6" name="note"/>
          <p:cNvSpPr/>
          <p:nvPr/>
        </p:nvSpPr>
        <p:spPr>
          <a:xfrm>
            <a:off x="566928" y="4590288"/>
            <a:ext cx="5989320" cy="987552"/>
          </a:xfrm>
          <a:prstGeom prst="roundRect">
            <a:avLst>
              <a:gd name="adj" fmla="val 6481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4590288"/>
            <a:ext cx="50292" cy="987552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" y="4663440"/>
            <a:ext cx="56052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Objective  -  estimate stator winding temperature from drive-measurable signals only, accurately enough that a controller can use it as a thermal limit instead of a thermocouple.</a:t>
            </a:r>
            <a:endParaRPr lang="en-US" sz="1150" dirty="0"/>
          </a:p>
        </p:txBody>
      </p:sp>
      <p:sp>
        <p:nvSpPr>
          <p:cNvPr id="9" name="inputs-card"/>
          <p:cNvSpPr/>
          <p:nvPr/>
        </p:nvSpPr>
        <p:spPr>
          <a:xfrm>
            <a:off x="6876288" y="1463040"/>
            <a:ext cx="4748479" cy="4114800"/>
          </a:xfrm>
          <a:prstGeom prst="roundRect">
            <a:avLst>
              <a:gd name="adj" fmla="val 1556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14032" y="1645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What the drive already measures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14032" y="208483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ambient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531352" y="208483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ambient air temperature (°C)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114032" y="24871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coolant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531352" y="24871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coolant outlet temp (°C)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114032" y="288950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u_d , u_q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531352" y="288950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terminal voltage, dq frame (V)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14032" y="329184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i_d , i_q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531352" y="32918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phase current, dq frame (A)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114032" y="369417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motor_speed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531352" y="369417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rotor speed (rpm)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114032" y="409651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torque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531352" y="409651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shaft torque (N·m)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14032" y="4700016"/>
            <a:ext cx="4343400" cy="0"/>
          </a:xfrm>
          <a:prstGeom prst="line">
            <a:avLst/>
          </a:prstGeom>
          <a:noFill/>
          <a:ln w="12700">
            <a:solidFill>
              <a:srgbClr val="D5DC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14032" y="4864608"/>
            <a:ext cx="4343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7280"/>
                </a:solidFill>
              </a:rPr>
              <a:t>TARGET   </a:t>
            </a:r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stator_winding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347472"/>
            <a:ext cx="1005199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Dataset and exploratory analysis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66928" y="877824"/>
            <a:ext cx="1005199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Electric Motor Temperature (Paderborn University, LEA) - PMSM test-bench telemetry from a dynamometer</a:t>
            </a:r>
            <a:endParaRPr lang="en-US" sz="13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10801807" y="645566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</a:rPr>
              <a:t>3 / 10</a:t>
            </a:r>
            <a:endParaRPr lang="en-US" sz="1000" dirty="0"/>
          </a:p>
        </p:txBody>
      </p:sp>
      <p:sp>
        <p:nvSpPr>
          <p:cNvPr id="5" name="tile-samples"/>
          <p:cNvSpPr/>
          <p:nvPr/>
        </p:nvSpPr>
        <p:spPr>
          <a:xfrm>
            <a:off x="566928" y="1389888"/>
            <a:ext cx="2130552" cy="1152144"/>
          </a:xfrm>
          <a:prstGeom prst="roundRect">
            <a:avLst>
              <a:gd name="adj" fmla="val 5556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508760"/>
            <a:ext cx="2130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1,330,816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057400"/>
            <a:ext cx="194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samples</a:t>
            </a:r>
            <a:endParaRPr lang="en-US" sz="1000" dirty="0"/>
          </a:p>
        </p:txBody>
      </p:sp>
      <p:sp>
        <p:nvSpPr>
          <p:cNvPr id="8" name="tile-independent sessions"/>
          <p:cNvSpPr/>
          <p:nvPr/>
        </p:nvSpPr>
        <p:spPr>
          <a:xfrm>
            <a:off x="2871216" y="1389888"/>
            <a:ext cx="2130552" cy="1152144"/>
          </a:xfrm>
          <a:prstGeom prst="roundRect">
            <a:avLst>
              <a:gd name="adj" fmla="val 5556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71216" y="1508760"/>
            <a:ext cx="2130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962656" y="2057400"/>
            <a:ext cx="194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independent sessions</a:t>
            </a:r>
            <a:endParaRPr lang="en-US" sz="1000" dirty="0"/>
          </a:p>
        </p:txBody>
      </p:sp>
      <p:sp>
        <p:nvSpPr>
          <p:cNvPr id="11" name="tile-sampling rate"/>
          <p:cNvSpPr/>
          <p:nvPr/>
        </p:nvSpPr>
        <p:spPr>
          <a:xfrm>
            <a:off x="5175504" y="1389888"/>
            <a:ext cx="2130552" cy="1152144"/>
          </a:xfrm>
          <a:prstGeom prst="roundRect">
            <a:avLst>
              <a:gd name="adj" fmla="val 5556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75504" y="1508760"/>
            <a:ext cx="2130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Hz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5266944" y="2057400"/>
            <a:ext cx="194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sampling rate</a:t>
            </a:r>
            <a:endParaRPr lang="en-US" sz="1000" dirty="0"/>
          </a:p>
        </p:txBody>
      </p:sp>
      <p:sp>
        <p:nvSpPr>
          <p:cNvPr id="14" name="tile-total running time"/>
          <p:cNvSpPr/>
          <p:nvPr/>
        </p:nvSpPr>
        <p:spPr>
          <a:xfrm>
            <a:off x="7479792" y="1389888"/>
            <a:ext cx="2130552" cy="1152144"/>
          </a:xfrm>
          <a:prstGeom prst="roundRect">
            <a:avLst>
              <a:gd name="adj" fmla="val 5556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79792" y="1508760"/>
            <a:ext cx="2130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 h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7571232" y="2057400"/>
            <a:ext cx="194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total running time</a:t>
            </a:r>
            <a:endParaRPr lang="en-US" sz="1000" dirty="0"/>
          </a:p>
        </p:txBody>
      </p:sp>
      <p:sp>
        <p:nvSpPr>
          <p:cNvPr id="17" name="tile-missing values"/>
          <p:cNvSpPr/>
          <p:nvPr/>
        </p:nvSpPr>
        <p:spPr>
          <a:xfrm>
            <a:off x="9784080" y="1389888"/>
            <a:ext cx="2130552" cy="1152144"/>
          </a:xfrm>
          <a:prstGeom prst="roundRect">
            <a:avLst>
              <a:gd name="adj" fmla="val 5556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784080" y="1508760"/>
            <a:ext cx="2130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9875520" y="2057400"/>
            <a:ext cx="194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missing values</a:t>
            </a:r>
            <a:endParaRPr lang="en-US" sz="1000" dirty="0"/>
          </a:p>
        </p:txBody>
      </p:sp>
      <p:pic>
        <p:nvPicPr>
          <p:cNvPr id="20" name="04_dataset_structure" descr="04_dataset_stru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557" y="2743200"/>
            <a:ext cx="5110582" cy="274320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66928" y="550468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Target distribution (18.6 - 141.4 °C) and session lengths (18 - 366 min)</a:t>
            </a:r>
            <a:endParaRPr lang="en-US" sz="950" dirty="0"/>
          </a:p>
        </p:txBody>
      </p:sp>
      <p:pic>
        <p:nvPicPr>
          <p:cNvPr id="22" name="03_correlation" descr="03_correl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3351" y="2743200"/>
            <a:ext cx="3066898" cy="274320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400800" y="5504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Correlation of every raw channel with the target</a:t>
            </a:r>
            <a:endParaRPr lang="en-US" sz="950" dirty="0"/>
          </a:p>
        </p:txBody>
      </p:sp>
      <p:sp>
        <p:nvSpPr>
          <p:cNvPr id="24" name="note"/>
          <p:cNvSpPr/>
          <p:nvPr/>
        </p:nvSpPr>
        <p:spPr>
          <a:xfrm>
            <a:off x="566928" y="5870448"/>
            <a:ext cx="11057839" cy="548640"/>
          </a:xfrm>
          <a:prstGeom prst="roundRect">
            <a:avLst>
              <a:gd name="adj" fmla="val 1166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66928" y="5870448"/>
            <a:ext cx="50292" cy="548640"/>
          </a:xfrm>
          <a:prstGeom prst="rect">
            <a:avLst/>
          </a:prstGeom>
          <a:solidFill>
            <a:srgbClr val="2E9E8F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68096" y="594360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No raw electrical channel exceeds |r| = 0.63 against the target. That ceiling is a property of the representation, not of the information - the physical relationship is not instantaneous.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347472"/>
            <a:ext cx="1005199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core insight: thermal inertia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66928" y="877824"/>
            <a:ext cx="1005199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4B0"/>
                </a:solidFill>
              </a:rPr>
              <a:t>Current changes in seconds, temperature in minutes - the target is a function of history, not of the present sample</a:t>
            </a:r>
            <a:endParaRPr lang="en-US" sz="13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10801807" y="645566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833A"/>
                </a:solidFill>
              </a:rPr>
              <a:t>4 / 10</a:t>
            </a:r>
            <a:endParaRPr lang="en-US" sz="1000" dirty="0"/>
          </a:p>
        </p:txBody>
      </p:sp>
      <p:pic>
        <p:nvPicPr>
          <p:cNvPr id="5" name="01_thermal_lag" descr="01_thermal_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885" y="1389888"/>
            <a:ext cx="3759007" cy="32461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468172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Electrical excitation and thermal response, same time axis, one session</a:t>
            </a:r>
            <a:endParaRPr lang="en-US" sz="950" dirty="0"/>
          </a:p>
        </p:txBody>
      </p:sp>
      <p:pic>
        <p:nvPicPr>
          <p:cNvPr id="7" name="02_ewma_motivation" descr="02_ewma_motiv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386" y="1389888"/>
            <a:ext cx="4835987" cy="2788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897880" y="4224528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One transform lifts i_s from r = 0.57 to r = 0.70</a:t>
            </a:r>
            <a:endParaRPr lang="en-US" sz="950" dirty="0"/>
          </a:p>
        </p:txBody>
      </p:sp>
      <p:sp>
        <p:nvSpPr>
          <p:cNvPr id="9" name="ode-card"/>
          <p:cNvSpPr/>
          <p:nvPr/>
        </p:nvSpPr>
        <p:spPr>
          <a:xfrm>
            <a:off x="5897880" y="4645152"/>
            <a:ext cx="5715000" cy="1572768"/>
          </a:xfrm>
          <a:prstGeom prst="roundRect">
            <a:avLst>
              <a:gd name="adj" fmla="val 4070"/>
            </a:avLst>
          </a:prstGeom>
          <a:solidFill>
            <a:srgbClr val="262D36"/>
          </a:solidFill>
          <a:ln w="12700">
            <a:solidFill>
              <a:srgbClr val="262D3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897880" y="4645152"/>
            <a:ext cx="50292" cy="1572768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144768" y="4736592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0"/>
                </a:solidFill>
              </a:rPr>
              <a:t>A lumped-parameter thermal model is a first-order system: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6144768" y="4992624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C_th · dϑ/dt  =  P_loss(t)  −  (ϑ − ϑ_amb) / R_th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144768" y="5321808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ϑ(t)  =  (1/τ) ∫ exp(−(t−s)/τ) · P_loss(s) ds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144768" y="5650992"/>
            <a:ext cx="5349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CFD6"/>
                </a:solidFill>
              </a:rPr>
              <a:t>That integral is an exponentially weighted moving average. Computing EWMAs does not smooth the data - it hands the model the exact functional form the physics produces.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66928" y="502920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9CFD6"/>
                </a:solidFill>
              </a:rPr>
              <a:t>Winding responds in tens of seconds, iron in minutes, housing and coolant in tens of minutes.</a:t>
            </a:r>
            <a:endParaRPr lang="en-US" sz="1150" dirty="0"/>
          </a:p>
          <a:p>
            <a:pPr marL="203200" indent="-2032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9CFD6"/>
                </a:solidFill>
              </a:rPr>
              <a:t>So EWMAs are computed at five spans - 30, 120, 600, 1800 and 3600 s - and the model weights them.</a:t>
            </a:r>
            <a:endParaRPr lang="en-US" sz="1150" dirty="0"/>
          </a:p>
          <a:p>
            <a:pPr marL="203200" indent="-2032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9CFD6"/>
                </a:solidFill>
              </a:rPr>
              <a:t>Exponentially weighted std at each span encodes how volatile the recent duty cycle has been.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347472"/>
            <a:ext cx="1005199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Pipeline and evaluation protocol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66928" y="877824"/>
            <a:ext cx="1005199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Eight raw channels become 104 features; entire measurement sessions are held out for test</a:t>
            </a:r>
            <a:endParaRPr lang="en-US" sz="13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10801807" y="645566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</a:rPr>
              <a:t>5 / 10</a:t>
            </a:r>
            <a:endParaRPr lang="en-US" sz="1000" dirty="0"/>
          </a:p>
        </p:txBody>
      </p:sp>
      <p:pic>
        <p:nvPicPr>
          <p:cNvPr id="5" name="00_flow_diagram" descr="00_flow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4659"/>
            <a:ext cx="3977640" cy="406296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54681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End-to-end pipeline: pre-processing, feature construction, modelling</a:t>
            </a:r>
            <a:endParaRPr lang="en-US" sz="950" dirty="0"/>
          </a:p>
        </p:txBody>
      </p:sp>
      <p:pic>
        <p:nvPicPr>
          <p:cNvPr id="7" name="10_split_protocol" descr="10_split_protoc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049370"/>
            <a:ext cx="3931920" cy="27135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846320" y="5468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Profile-wise split - whole sessions held out</a:t>
            </a:r>
            <a:endParaRPr lang="en-US" sz="950" dirty="0"/>
          </a:p>
        </p:txBody>
      </p:sp>
      <p:sp>
        <p:nvSpPr>
          <p:cNvPr id="9" name="protocol-card"/>
          <p:cNvSpPr/>
          <p:nvPr/>
        </p:nvSpPr>
        <p:spPr>
          <a:xfrm>
            <a:off x="9098280" y="1371600"/>
            <a:ext cx="2526487" cy="4069080"/>
          </a:xfrm>
          <a:prstGeom prst="roundRect">
            <a:avLst>
              <a:gd name="adj" fmla="val 2533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308592" y="1536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Why not a random split?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308592" y="1847088"/>
            <a:ext cx="23042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At 2 Hz, rows are 0.5 s apart and near-identical. A random split scatters near-duplicates across train and test, so the test set is effectively already inside the training set.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9308592" y="31089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B7280"/>
                </a:solidFill>
              </a:rPr>
              <a:t>TRAIN</a:t>
            </a:r>
            <a:endParaRPr lang="en-US" sz="850" dirty="0"/>
          </a:p>
        </p:txBody>
      </p:sp>
      <p:sp>
        <p:nvSpPr>
          <p:cNvPr id="13" name="Text 9"/>
          <p:cNvSpPr txBox="1"/>
          <p:nvPr/>
        </p:nvSpPr>
        <p:spPr>
          <a:xfrm>
            <a:off x="9308592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1,211,517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9308592" y="35478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64 profiles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9308592" y="38404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B7280"/>
                </a:solidFill>
              </a:rPr>
              <a:t>VALIDATION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9308592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63,904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9308592" y="42793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profiles 60, 62, 74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9308592" y="45720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B7280"/>
                </a:solidFill>
              </a:rPr>
              <a:t>TEST</a:t>
            </a:r>
            <a:endParaRPr lang="en-US" sz="850" dirty="0"/>
          </a:p>
        </p:txBody>
      </p:sp>
      <p:sp>
        <p:nvSpPr>
          <p:cNvPr id="19" name="Text 15"/>
          <p:cNvSpPr txBox="1"/>
          <p:nvPr/>
        </p:nvSpPr>
        <p:spPr>
          <a:xfrm>
            <a:off x="9308592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33A"/>
                </a:solidFill>
              </a:rPr>
              <a:t>55,395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9308592" y="50109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profiles 65, 72</a:t>
            </a:r>
            <a:endParaRPr lang="en-US" sz="950" dirty="0"/>
          </a:p>
        </p:txBody>
      </p:sp>
      <p:sp>
        <p:nvSpPr>
          <p:cNvPr id="21" name="note"/>
          <p:cNvSpPr/>
          <p:nvPr/>
        </p:nvSpPr>
        <p:spPr>
          <a:xfrm>
            <a:off x="566928" y="5870448"/>
            <a:ext cx="11057839" cy="548640"/>
          </a:xfrm>
          <a:prstGeom prst="roundRect">
            <a:avLst>
              <a:gd name="adj" fmla="val 1166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66928" y="5870448"/>
            <a:ext cx="50292" cy="5486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768096" y="594360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Profiles 65 and 72 are the benchmark sessions used in the published literature on this bench, chosen in advance - so the test set cannot have been picked to flatter the result.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347472"/>
            <a:ext cx="1005199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Where the accuracy actually comes from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66928" y="877824"/>
            <a:ext cx="1005199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Two controlled studies: an ablation over feature families, and a leakage study over split protocols</a:t>
            </a:r>
            <a:endParaRPr lang="en-US" sz="13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10801807" y="645566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</a:rPr>
              <a:t>6 / 10</a:t>
            </a:r>
            <a:endParaRPr lang="en-US" sz="1000" dirty="0"/>
          </a:p>
        </p:txBody>
      </p:sp>
      <p:pic>
        <p:nvPicPr>
          <p:cNvPr id="5" name="09_ablation_leakage" descr="09_ablation_leak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9544" y="1353312"/>
            <a:ext cx="5772607" cy="2697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4187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</a:rPr>
              <a:t>Ablation - identical LightGBM, progressively richer features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480560"/>
          <a:ext cx="54864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188720"/>
                <a:gridCol w="10972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(°C)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inputs only (8 channels)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instantaneous physical derivations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EWMA thermal-history 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8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8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355080" y="418795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</a:rPr>
              <a:t>Leakage - same model, same features, only the split changes</a:t>
            </a:r>
            <a:endParaRPr lang="en-US" sz="11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4480560"/>
          <a:ext cx="53035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143000"/>
                <a:gridCol w="10515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protocol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(°C)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80/20 over rows  (leaky)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Profile-wise, whole sessions  (honest)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splitting understates error by 3.8x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3A2E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0" name="note"/>
          <p:cNvSpPr/>
          <p:nvPr/>
        </p:nvSpPr>
        <p:spPr>
          <a:xfrm>
            <a:off x="566928" y="5907024"/>
            <a:ext cx="11057839" cy="530352"/>
          </a:xfrm>
          <a:prstGeom prst="roundRect">
            <a:avLst>
              <a:gd name="adj" fmla="val 12069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566928" y="5907024"/>
            <a:ext cx="50292" cy="530352"/>
          </a:xfrm>
          <a:prstGeom prst="rect">
            <a:avLst/>
          </a:prstGeom>
          <a:solidFill>
            <a:srgbClr val="2E9E8F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768096" y="5980176"/>
            <a:ext cx="106737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Instantaneous derivations buy nothing on their own - the entire gain is thermal history. 8 raw channels become 104 features: 8 raw + 6 physical + (9 channels x 2 statistics x 5 spans = 90).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347472"/>
            <a:ext cx="1005199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Model development: a ladder of five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66928" y="877824"/>
            <a:ext cx="1005199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From the simplest thing that could work upward - the comparison is the point, not any single number</a:t>
            </a:r>
            <a:endParaRPr lang="en-US" sz="13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10801807" y="645566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</a:rPr>
              <a:t>7 / 10</a:t>
            </a:r>
            <a:endParaRPr lang="en-US" sz="1000" dirty="0"/>
          </a:p>
        </p:txBody>
      </p:sp>
      <p:pic>
        <p:nvPicPr>
          <p:cNvPr id="5" name="05_model_comparison" descr="05_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629" y="1335024"/>
            <a:ext cx="6385118" cy="32461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4645152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RMSE, R2 and max absolute error across the ladder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335024"/>
          <a:ext cx="4407408" cy="914400"/>
        </p:xfrm>
        <a:graphic>
          <a:graphicData uri="http://schemas.openxmlformats.org/drawingml/2006/table">
            <a:tbl>
              <a:tblPr/>
              <a:tblGrid>
                <a:gridCol w="1517904"/>
                <a:gridCol w="530352"/>
                <a:gridCol w="512064"/>
                <a:gridCol w="603504"/>
                <a:gridCol w="658368"/>
                <a:gridCol w="585216"/>
              </a:tblGrid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MaxAE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±2 °C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regression, raw inputs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17.79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regression, + EWMA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71.7 %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(80 trees)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56.8 %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(2 x 128), untuned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81.3 %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(743 trees)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65.8 %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tuned  - SELECTED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84.2 %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33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HistGradientBoosting, tuned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E9E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1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7223760" y="3895344"/>
            <a:ext cx="4407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Test set = profiles 65 and 72 (55,395 samples), held out entirely</a:t>
            </a:r>
            <a:endParaRPr lang="en-US" sz="95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5010912"/>
            <a:ext cx="110578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Linear regression goes from R2 0.53 to 0.99 with no change of algorithm - only features. Feature engineering beat model sophistication.</a:t>
            </a:r>
            <a:endParaRPr lang="en-US" sz="1250" dirty="0"/>
          </a:p>
          <a:p>
            <a:pPr marL="203200" indent="-2032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The MLP beats both tree ensembles. Trees are piecewise-constant and cannot extrapolate past the training envelope; a smooth model continues the trend.</a:t>
            </a:r>
            <a:endParaRPr lang="en-US" sz="1250" dirty="0"/>
          </a:p>
          <a:p>
            <a:pPr marL="203200" indent="-2032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RMSE and max error do not rank the models identically - tuned HistGradientBoosting has the best worst case at 9.53 °C.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347472"/>
            <a:ext cx="1005199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Final result on unseen motor sessions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66928" y="877824"/>
            <a:ext cx="1005199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4B0"/>
                </a:solidFill>
              </a:rPr>
              <a:t>Tuned MLP - two hidden layers of 128, StandardScaler pipeline, early stopping, 104 inputs</a:t>
            </a:r>
            <a:endParaRPr lang="en-US" sz="13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10801807" y="645566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833A"/>
                </a:solidFill>
              </a:rPr>
              <a:t>8 / 10</a:t>
            </a:r>
            <a:endParaRPr lang="en-US" sz="1000" dirty="0"/>
          </a:p>
        </p:txBody>
      </p:sp>
      <p:sp>
        <p:nvSpPr>
          <p:cNvPr id="5" name="tile-RMSE"/>
          <p:cNvSpPr/>
          <p:nvPr/>
        </p:nvSpPr>
        <p:spPr>
          <a:xfrm>
            <a:off x="566928" y="1371600"/>
            <a:ext cx="2130552" cy="1152144"/>
          </a:xfrm>
          <a:prstGeom prst="roundRect">
            <a:avLst>
              <a:gd name="adj" fmla="val 5556"/>
            </a:avLst>
          </a:prstGeom>
          <a:solidFill>
            <a:srgbClr val="262D36"/>
          </a:solidFill>
          <a:ln w="12700">
            <a:solidFill>
              <a:srgbClr val="262D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490472"/>
            <a:ext cx="2130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1.54 °C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039112"/>
            <a:ext cx="194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4B0"/>
                </a:solidFill>
              </a:rPr>
              <a:t>RMSE</a:t>
            </a:r>
            <a:endParaRPr lang="en-US" sz="1000" dirty="0"/>
          </a:p>
        </p:txBody>
      </p:sp>
      <p:sp>
        <p:nvSpPr>
          <p:cNvPr id="8" name="tile-MAE"/>
          <p:cNvSpPr/>
          <p:nvPr/>
        </p:nvSpPr>
        <p:spPr>
          <a:xfrm>
            <a:off x="2871216" y="1371600"/>
            <a:ext cx="2130552" cy="1152144"/>
          </a:xfrm>
          <a:prstGeom prst="roundRect">
            <a:avLst>
              <a:gd name="adj" fmla="val 5556"/>
            </a:avLst>
          </a:prstGeom>
          <a:solidFill>
            <a:srgbClr val="262D36"/>
          </a:solidFill>
          <a:ln w="12700">
            <a:solidFill>
              <a:srgbClr val="262D3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71216" y="1490472"/>
            <a:ext cx="2130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1.10 °C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962656" y="2039112"/>
            <a:ext cx="194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4B0"/>
                </a:solidFill>
              </a:rPr>
              <a:t>MAE</a:t>
            </a:r>
            <a:endParaRPr lang="en-US" sz="1000" dirty="0"/>
          </a:p>
        </p:txBody>
      </p:sp>
      <p:sp>
        <p:nvSpPr>
          <p:cNvPr id="11" name="tile-R2"/>
          <p:cNvSpPr/>
          <p:nvPr/>
        </p:nvSpPr>
        <p:spPr>
          <a:xfrm>
            <a:off x="5175504" y="1371600"/>
            <a:ext cx="2130552" cy="1152144"/>
          </a:xfrm>
          <a:prstGeom prst="roundRect">
            <a:avLst>
              <a:gd name="adj" fmla="val 5556"/>
            </a:avLst>
          </a:prstGeom>
          <a:solidFill>
            <a:srgbClr val="262D36"/>
          </a:solidFill>
          <a:ln w="12700">
            <a:solidFill>
              <a:srgbClr val="262D3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75504" y="1490472"/>
            <a:ext cx="2130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0.9965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5266944" y="2039112"/>
            <a:ext cx="194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4B0"/>
                </a:solidFill>
              </a:rPr>
              <a:t>R2</a:t>
            </a:r>
            <a:endParaRPr lang="en-US" sz="1000" dirty="0"/>
          </a:p>
        </p:txBody>
      </p:sp>
      <p:sp>
        <p:nvSpPr>
          <p:cNvPr id="14" name="tile-max abs error"/>
          <p:cNvSpPr/>
          <p:nvPr/>
        </p:nvSpPr>
        <p:spPr>
          <a:xfrm>
            <a:off x="7479792" y="1371600"/>
            <a:ext cx="2130552" cy="1152144"/>
          </a:xfrm>
          <a:prstGeom prst="roundRect">
            <a:avLst>
              <a:gd name="adj" fmla="val 5556"/>
            </a:avLst>
          </a:prstGeom>
          <a:solidFill>
            <a:srgbClr val="262D36"/>
          </a:solidFill>
          <a:ln w="12700">
            <a:solidFill>
              <a:srgbClr val="262D3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79792" y="1490472"/>
            <a:ext cx="2130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11.32 °C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7571232" y="2039112"/>
            <a:ext cx="194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4B0"/>
                </a:solidFill>
              </a:rPr>
              <a:t>max abs error</a:t>
            </a:r>
            <a:endParaRPr lang="en-US" sz="1000" dirty="0"/>
          </a:p>
        </p:txBody>
      </p:sp>
      <p:sp>
        <p:nvSpPr>
          <p:cNvPr id="17" name="tile-within ±2 °C"/>
          <p:cNvSpPr/>
          <p:nvPr/>
        </p:nvSpPr>
        <p:spPr>
          <a:xfrm>
            <a:off x="9784080" y="1371600"/>
            <a:ext cx="2130552" cy="1152144"/>
          </a:xfrm>
          <a:prstGeom prst="roundRect">
            <a:avLst>
              <a:gd name="adj" fmla="val 5556"/>
            </a:avLst>
          </a:prstGeom>
          <a:solidFill>
            <a:srgbClr val="262D36"/>
          </a:solidFill>
          <a:ln w="12700">
            <a:solidFill>
              <a:srgbClr val="262D3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784080" y="1490472"/>
            <a:ext cx="2130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84.2 %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9875520" y="2039112"/>
            <a:ext cx="194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4B0"/>
                </a:solidFill>
              </a:rPr>
              <a:t>within ±2 °C</a:t>
            </a:r>
            <a:endParaRPr lang="en-US" sz="1000" dirty="0"/>
          </a:p>
        </p:txBody>
      </p:sp>
      <p:pic>
        <p:nvPicPr>
          <p:cNvPr id="20" name="06_predicted_vs_actual" descr="06_predicted_vs_act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970" y="2724912"/>
            <a:ext cx="4495876" cy="324612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66928" y="5998464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Predicted vs measured on profiles 65 and 72 - sessions the model has never seen</a:t>
            </a:r>
            <a:endParaRPr lang="en-US" sz="950" dirty="0"/>
          </a:p>
        </p:txBody>
      </p:sp>
      <p:pic>
        <p:nvPicPr>
          <p:cNvPr id="22" name="07_residuals" descr="07_residua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035" y="2724912"/>
            <a:ext cx="4310299" cy="237744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315200" y="5120640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Residual distribution and bias check vs temperature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7315200" y="5431536"/>
            <a:ext cx="4315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4B0"/>
                </a:solidFill>
              </a:rPr>
              <a:t>Residuals are approximately zero-mean and symmetric, with no systematic trend against measured temperature - the error is dispersion, not bias.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347472"/>
            <a:ext cx="1005199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Interpretation: what the model learned, and where it errs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66928" y="877824"/>
            <a:ext cx="1005199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Feature importance, the tuning search, and an error breakdown by regime</a:t>
            </a:r>
            <a:endParaRPr lang="en-US" sz="13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10801807" y="645566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</a:rPr>
              <a:t>9 / 10</a:t>
            </a:r>
            <a:endParaRPr lang="en-US" sz="1000" dirty="0"/>
          </a:p>
        </p:txBody>
      </p:sp>
      <p:pic>
        <p:nvPicPr>
          <p:cNvPr id="5" name="08_feature_importance" descr="08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53965"/>
            <a:ext cx="3703320" cy="244928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38404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LightGBM split counts - top features</a:t>
            </a:r>
            <a:endParaRPr lang="en-US" sz="950" dirty="0"/>
          </a:p>
        </p:txBody>
      </p:sp>
      <p:pic>
        <p:nvPicPr>
          <p:cNvPr id="7" name="11_tuning_results" descr="11_tuning_resul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742525"/>
            <a:ext cx="3611880" cy="167216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434840" y="38404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Grouped randomised search, two families</a:t>
            </a:r>
            <a:endParaRPr lang="en-US" sz="950" dirty="0"/>
          </a:p>
        </p:txBody>
      </p:sp>
      <p:pic>
        <p:nvPicPr>
          <p:cNvPr id="9" name="12_error_analysis" descr="12_error_analysi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761316"/>
            <a:ext cx="3401568" cy="1634583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229600" y="384048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Error by temperature, load, and time into session</a:t>
            </a:r>
            <a:endParaRPr lang="en-US" sz="950" dirty="0"/>
          </a:p>
        </p:txBody>
      </p:sp>
      <p:sp>
        <p:nvSpPr>
          <p:cNvPr id="11" name="c1"/>
          <p:cNvSpPr/>
          <p:nvPr/>
        </p:nvSpPr>
        <p:spPr>
          <a:xfrm>
            <a:off x="566928" y="4187952"/>
            <a:ext cx="3703320" cy="2103120"/>
          </a:xfrm>
          <a:prstGeom prst="roundRect">
            <a:avLst>
              <a:gd name="adj" fmla="val 3043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68096" y="43159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The model learned the physics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768096" y="459028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All top-15 features are EWMA-derived. The two strongest are coolant_ewma_600s (2234 splits) and i_s_sq_ewma_600s (1935) - exactly the heat-sink boundary condition and the copper-loss term the thermal ODE names as dominant.</a:t>
            </a:r>
            <a:endParaRPr lang="en-US" sz="1050" dirty="0"/>
          </a:p>
        </p:txBody>
      </p:sp>
      <p:sp>
        <p:nvSpPr>
          <p:cNvPr id="14" name="c2"/>
          <p:cNvSpPr/>
          <p:nvPr/>
        </p:nvSpPr>
        <p:spPr>
          <a:xfrm>
            <a:off x="4434840" y="4187952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636008" y="43159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Tuning helped the average, not the tail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4636008" y="4590288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RMSE improved 8 % and MAE 13 %, but max error rose from 9.84 to 11.32 °C because the search optimised RMSE and nothing constrained the tail. Reported, not hidden. CV RMSE (3.04) ranks candidates; it does not estimate deployed accuracy.</a:t>
            </a:r>
            <a:endParaRPr lang="en-US" sz="1050" dirty="0"/>
          </a:p>
        </p:txBody>
      </p:sp>
      <p:sp>
        <p:nvSpPr>
          <p:cNvPr id="17" name="c3"/>
          <p:cNvSpPr/>
          <p:nvPr/>
        </p:nvSpPr>
        <p:spPr>
          <a:xfrm>
            <a:off x="8229600" y="4187952"/>
            <a:ext cx="3395167" cy="2103120"/>
          </a:xfrm>
          <a:prstGeom prst="roundRect">
            <a:avLst>
              <a:gd name="adj" fmla="val 3043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430768" y="4315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Where the error lives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8430768" y="4590288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chemeClr val="tx1"/>
                </a:solidFill>
              </a:rPr>
              <a:t>Median error holds near 1 °C in every temperature band and every load band - accuracy does not decay when the motor is hot. The largest errors sit in the first minutes of a session, while the 1800 s and 3600 s filters are still converging from zero.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66928" y="347472"/>
            <a:ext cx="1005199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Conclusions, deployment and limitations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66928" y="877824"/>
            <a:ext cx="1005199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4B0"/>
                </a:solidFill>
              </a:rPr>
              <a:t>What was achieved, what it would take to ship it, and what this work does not prove</a:t>
            </a:r>
            <a:endParaRPr lang="en-US" sz="13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10801807" y="645566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833A"/>
                </a:solidFill>
              </a:rPr>
              <a:t>10 / 10</a:t>
            </a:r>
            <a:endParaRPr lang="en-US" sz="1000" dirty="0"/>
          </a:p>
        </p:txBody>
      </p:sp>
      <p:sp>
        <p:nvSpPr>
          <p:cNvPr id="5" name="concl"/>
          <p:cNvSpPr/>
          <p:nvPr/>
        </p:nvSpPr>
        <p:spPr>
          <a:xfrm>
            <a:off x="566928" y="1389888"/>
            <a:ext cx="5687568" cy="3017520"/>
          </a:xfrm>
          <a:prstGeom prst="roundRect">
            <a:avLst>
              <a:gd name="adj" fmla="val 2121"/>
            </a:avLst>
          </a:prstGeom>
          <a:solidFill>
            <a:srgbClr val="262D36"/>
          </a:solidFill>
          <a:ln w="12700">
            <a:solidFill>
              <a:srgbClr val="262D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89888"/>
            <a:ext cx="50292" cy="301752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151790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</a:rPr>
              <a:t>Conclusions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1847088"/>
            <a:ext cx="5212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5DCE3"/>
                </a:solidFill>
              </a:rPr>
              <a:t>Winding temperature is estimable from drive-measurable signals alone to 1.54 °C RMSE and R2 = 0.9965 on unseen sessions.</a:t>
            </a:r>
            <a:endParaRPr lang="en-US" sz="1050" dirty="0"/>
          </a:p>
          <a:p>
            <a:pPr marL="203200" indent="-2032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5DCE3"/>
                </a:solidFill>
              </a:rPr>
              <a:t>Feature engineering, not model selection, produced the result - the ablation traces the gain specifically to the EWMA terms.</a:t>
            </a:r>
            <a:endParaRPr lang="en-US" sz="1050" dirty="0"/>
          </a:p>
          <a:p>
            <a:pPr marL="203200" indent="-2032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5DCE3"/>
                </a:solidFill>
              </a:rPr>
              <a:t>Evaluation protocol changes the reported number by 3.8x; a result without its protocol is not a result.</a:t>
            </a:r>
            <a:endParaRPr lang="en-US" sz="1050" dirty="0"/>
          </a:p>
          <a:p>
            <a:pPr marL="203200" indent="-2032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5DCE3"/>
                </a:solidFill>
              </a:rPr>
              <a:t>A smooth model generalises better than tree ensembles here, because held-out sessions demand extrapolation.</a:t>
            </a:r>
            <a:endParaRPr lang="en-US" sz="1050" dirty="0"/>
          </a:p>
          <a:p>
            <a:pPr marL="203200" indent="-2032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5DCE3"/>
                </a:solidFill>
              </a:rPr>
              <a:t>The model learned the intended physics - its dominant features are the coolant boundary condition and the copper-loss term.</a:t>
            </a:r>
            <a:endParaRPr lang="en-US" sz="1050" dirty="0"/>
          </a:p>
        </p:txBody>
      </p:sp>
      <p:sp>
        <p:nvSpPr>
          <p:cNvPr id="9" name="deploy"/>
          <p:cNvSpPr/>
          <p:nvPr/>
        </p:nvSpPr>
        <p:spPr>
          <a:xfrm>
            <a:off x="6473952" y="1389888"/>
            <a:ext cx="5150815" cy="1426464"/>
          </a:xfrm>
          <a:prstGeom prst="roundRect">
            <a:avLst>
              <a:gd name="adj" fmla="val 4487"/>
            </a:avLst>
          </a:prstGeom>
          <a:solidFill>
            <a:srgbClr val="262D36"/>
          </a:solidFill>
          <a:ln w="12700">
            <a:solidFill>
              <a:srgbClr val="262D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1389888"/>
            <a:ext cx="50292" cy="1426464"/>
          </a:xfrm>
          <a:prstGeom prst="rect">
            <a:avLst/>
          </a:prstGeom>
          <a:solidFill>
            <a:srgbClr val="2E9E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11696" y="15179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8F"/>
                </a:solidFill>
              </a:rPr>
              <a:t>Deployment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11696" y="181051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5DCE3"/>
                </a:solidFill>
              </a:rPr>
              <a:t>~30k multiply-accumulates per inference at 2 Hz - negligible for a motor-control MCU. Each EWMA is one multiply-add and one register, so all 90 cost 90 registers. A hardware-friendly feature extractor is what makes this a thermocouple replacement rather than an offline analysis.</a:t>
            </a:r>
            <a:endParaRPr lang="en-US" sz="1050" dirty="0"/>
          </a:p>
        </p:txBody>
      </p:sp>
      <p:sp>
        <p:nvSpPr>
          <p:cNvPr id="13" name="limits"/>
          <p:cNvSpPr/>
          <p:nvPr/>
        </p:nvSpPr>
        <p:spPr>
          <a:xfrm>
            <a:off x="6473952" y="2980944"/>
            <a:ext cx="5150815" cy="1426464"/>
          </a:xfrm>
          <a:prstGeom prst="roundRect">
            <a:avLst>
              <a:gd name="adj" fmla="val 4487"/>
            </a:avLst>
          </a:prstGeom>
          <a:solidFill>
            <a:srgbClr val="262D36"/>
          </a:solidFill>
          <a:ln w="12700">
            <a:solidFill>
              <a:srgbClr val="262D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73952" y="2980944"/>
            <a:ext cx="50292" cy="1426464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11696" y="3108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880"/>
                </a:solidFill>
              </a:rPr>
              <a:t>Limitations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11696" y="340156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5DCE3"/>
                </a:solidFill>
              </a:rPr>
              <a:t>Worst case is 11.32 °C, so a deployed limit still needs a safety margin. One machine, one bench - transfer to other geometries is unproven. Warm-up error while the long filters converge. No uncertainty estimate, which a protection function would want.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645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Next, in order of value</a:t>
            </a:r>
            <a:endParaRPr lang="en-US" sz="1300" dirty="0"/>
          </a:p>
        </p:txBody>
      </p:sp>
      <p:sp>
        <p:nvSpPr>
          <p:cNvPr id="18" name="nx0"/>
          <p:cNvSpPr/>
          <p:nvPr/>
        </p:nvSpPr>
        <p:spPr>
          <a:xfrm>
            <a:off x="566928" y="4992624"/>
            <a:ext cx="2620442" cy="1188720"/>
          </a:xfrm>
          <a:prstGeom prst="roundRect">
            <a:avLst>
              <a:gd name="adj" fmla="val 5385"/>
            </a:avLst>
          </a:prstGeom>
          <a:solidFill>
            <a:srgbClr val="262D36"/>
          </a:solidFill>
          <a:ln w="12700">
            <a:solidFill>
              <a:srgbClr val="262D3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51023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33A"/>
                </a:solidFill>
              </a:rPr>
              <a:t>1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" y="5340096"/>
            <a:ext cx="232783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Seed EWMA state from the first sample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" y="5760720"/>
            <a:ext cx="23278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AA4B0"/>
                </a:solidFill>
              </a:rPr>
              <a:t>removes most of the warm-up error - cheapest win</a:t>
            </a:r>
            <a:endParaRPr lang="en-US" sz="900" dirty="0"/>
          </a:p>
        </p:txBody>
      </p:sp>
      <p:sp>
        <p:nvSpPr>
          <p:cNvPr id="22" name="nx1"/>
          <p:cNvSpPr/>
          <p:nvPr/>
        </p:nvSpPr>
        <p:spPr>
          <a:xfrm>
            <a:off x="3379394" y="4992624"/>
            <a:ext cx="2620442" cy="1188720"/>
          </a:xfrm>
          <a:prstGeom prst="roundRect">
            <a:avLst>
              <a:gd name="adj" fmla="val 5385"/>
            </a:avLst>
          </a:prstGeom>
          <a:solidFill>
            <a:srgbClr val="262D36"/>
          </a:solidFill>
          <a:ln w="12700">
            <a:solidFill>
              <a:srgbClr val="262D3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25698" y="51023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33A"/>
                </a:solidFill>
              </a:rPr>
              <a:t>2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525698" y="5340096"/>
            <a:ext cx="232783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Physics-informed loss on the thermal ODE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525698" y="5760720"/>
            <a:ext cx="23278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AA4B0"/>
                </a:solidFill>
              </a:rPr>
              <a:t>attacks worst-case error specifically</a:t>
            </a:r>
            <a:endParaRPr lang="en-US" sz="900" dirty="0"/>
          </a:p>
        </p:txBody>
      </p:sp>
      <p:sp>
        <p:nvSpPr>
          <p:cNvPr id="26" name="nx2"/>
          <p:cNvSpPr/>
          <p:nvPr/>
        </p:nvSpPr>
        <p:spPr>
          <a:xfrm>
            <a:off x="6191860" y="4992624"/>
            <a:ext cx="2620442" cy="1188720"/>
          </a:xfrm>
          <a:prstGeom prst="roundRect">
            <a:avLst>
              <a:gd name="adj" fmla="val 5385"/>
            </a:avLst>
          </a:prstGeom>
          <a:solidFill>
            <a:srgbClr val="262D36"/>
          </a:solidFill>
          <a:ln w="12700">
            <a:solidFill>
              <a:srgbClr val="262D3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38164" y="51023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33A"/>
                </a:solidFill>
              </a:rPr>
              <a:t>3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338164" y="5340096"/>
            <a:ext cx="232783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Quantile / conformal prediction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338164" y="5760720"/>
            <a:ext cx="23278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AA4B0"/>
                </a:solidFill>
              </a:rPr>
              <a:t>gives the upper bound a protection limit wants</a:t>
            </a:r>
            <a:endParaRPr lang="en-US" sz="900" dirty="0"/>
          </a:p>
        </p:txBody>
      </p:sp>
      <p:sp>
        <p:nvSpPr>
          <p:cNvPr id="30" name="nx3"/>
          <p:cNvSpPr/>
          <p:nvPr/>
        </p:nvSpPr>
        <p:spPr>
          <a:xfrm>
            <a:off x="9004325" y="4992624"/>
            <a:ext cx="2620442" cy="1188720"/>
          </a:xfrm>
          <a:prstGeom prst="roundRect">
            <a:avLst>
              <a:gd name="adj" fmla="val 5385"/>
            </a:avLst>
          </a:prstGeom>
          <a:solidFill>
            <a:srgbClr val="262D36"/>
          </a:solidFill>
          <a:ln w="12700">
            <a:solidFill>
              <a:srgbClr val="262D3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50629" y="51023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33A"/>
                </a:solidFill>
              </a:rPr>
              <a:t>4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150629" y="5340096"/>
            <a:ext cx="232783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Sequence model (temporal CNN / LSTM)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9150629" y="5760720"/>
            <a:ext cx="23278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AA4B0"/>
                </a:solidFill>
              </a:rPr>
              <a:t>learns time constants instead of fixing five spans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MSM Thermal">
  <a:themeElements>
    <a:clrScheme name="PMSM Thermal">
      <a:dk1>
        <a:srgbClr val="1C2127"/>
      </a:dk1>
      <a:lt1>
        <a:srgbClr val="FFFFFF"/>
      </a:lt1>
      <a:dk2>
        <a:srgbClr val="6B7280"/>
      </a:dk2>
      <a:lt2>
        <a:srgbClr val="F1F3F5"/>
      </a:lt2>
      <a:accent1>
        <a:srgbClr val="E8833A"/>
      </a:accent1>
      <a:accent2>
        <a:srgbClr val="2E9E8F"/>
      </a:accent2>
      <a:accent3>
        <a:srgbClr val="1F4E79"/>
      </a:accent3>
      <a:accent4>
        <a:srgbClr val="C0504D"/>
      </a:accent4>
      <a:accent5>
        <a:srgbClr val="8064A2"/>
      </a:accent5>
      <a:accent6>
        <a:srgbClr val="4BACC6"/>
      </a:accent6>
      <a:hlink>
        <a:srgbClr val="1F4E79"/>
      </a:hlink>
      <a:folHlink>
        <a:srgbClr val="6B7280"/>
      </a:folHlink>
    </a:clrScheme>
    <a:fontScheme name="PMSM Therm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PMSM Thermal Virtual Sensor</dc:title>
  <dc:subject>UCS321 AI for Engineers - MST Mini Project</dc:subject>
  <dc:creator>Lohhith Thakur</dc:creator>
  <cp:lastModifiedBy>Lohhith Thakur</cp:lastModifiedBy>
  <cp:revision>1</cp:revision>
  <dcterms:created xsi:type="dcterms:W3CDTF">2026-10-11T19:35:49Z</dcterms:created>
  <dcterms:modified xsi:type="dcterms:W3CDTF">2026-10-11T19:35:49Z</dcterms:modified>
</cp:coreProperties>
</file>