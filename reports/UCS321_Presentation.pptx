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we picked the problem statement that sits closest to what we already study — electrical machines and sensor data. The framing we chose is a virtual sensor: replace a physical thermocouple with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to land: this is not an academic regression target. Insulation life halving every 10 degrees is the standard engineering rule of thumb, and it is why the limit is enforced conservatively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these two columns is the entire business case for the project. Examiner may ask: why not a thermal model instead of ML? Answer — lumped-parameter models exist and need per-machine parameter identification; we get comparable accuracy straight from logged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where the marks for problem understanding are won. The last box is the one to emphasise: choosing the right success metric is itself an engineering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 sessions, each a continuous recording with its own excitation schedule. The session is the natural unit for splitting — that becomes important three slides from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here: 'wouldn't your accuracy be higher if you kept them?' Yes — and the result would be worthless, because the deployment target has none of those sensors. This is the slide that shows we understood the problem rather than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bottom panel against the middle one. Temperature keeps rising after current has already stepped down. Everything that follows is a response to this one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innovation slide. The claim to make explicitly: we did not pick EWMA by trial and error — the analytical solution of the thermal ODE IS an exponentially weighted integral, so the feature is the physics written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viva moment in the deck. Most teams working on time-series data will report the 0.9995 figure. Being able to say why it is wrong, and quantify it,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subsampling: RF and MLP were fitted on every 10th training sample. At 2 Hz the data is so autocorrelated that this costs essentially no information and saves an order of magnitude of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slide. If the examiner remembers one thing, it should be this pair of numbers. It also answers 'did you just throw XGBoost at it' — no, the physics did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flagging: Ridge beats LightGBM on RMSE but has a 26 degree worst case versus LightGBM's 11. Selecting on RMSE alone would have picked the wrong model for a protection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1 is the one examiners find most interesting — it is counter to the usual assumption that gradient boosting always wins on tabular data. Be ready to explain leaf-wise constant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to fix the transition lag: add a shorter EWMA span, or move to a sequence model that learns the time constants rather than having them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studies are what turn a result into evidence. Without the ablation we could not claim the EWMAs specifically caused the gain rather than the feature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framing: we selected on RMSE and then disclosed max error, rather than retrofitting the criterion. If worst case were the selection criterion, tuned HistGradientBoosting at 9.53 would win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to fix the warm-up penalty: seed the EWMA state from the first sample instead of zero, add a shorter span, or move to a sequence model that learns the time constants.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interpretability slide. It closes the loop: we derived the features from physics, and the trained model independently ranked the physically dominant terms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our own background — this is the slide where the VLSI angle pays off. The EWMA recurrence maps directly to a small fixed-point datapath; an RTL implementation is listed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point 2 — it is the transferable lesson, not just a result about motors.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hidden during the talk; jump to it only if one of these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2A313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182880"/>
            <a:ext cx="2377440" cy="23774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417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UCS321 · AI FOR ENGINEERS · MINI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7452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Electric Motor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6032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Winding Temperature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015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virtual sensor that replaces a thermocouple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041648"/>
            <a:ext cx="1371600" cy="25603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3159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6 — General Electric (GE) Power Systems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7183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Lohhith Thakur · 1025220020    |    [ group members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winding temperature is the number that matters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binding constraint on how hard a motor may be driven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27632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PMSM converts electrical power to mechanical power efficiently, but the loss appears as heat in the stator copper. The winding's enamel insulation has a finite thermal rating. Exceed it and the enamel degrades chemically until adjacent turns short and the machine is destroyed.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602736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395020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°C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626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 insulation rating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34056" y="3602736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34056" y="395020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4626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life per +10 °C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9744" y="3602736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9744" y="395020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4626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motors with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thermocouple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1627632"/>
            <a:ext cx="4645152" cy="4078224"/>
          </a:xfrm>
          <a:prstGeom prst="roundRect">
            <a:avLst>
              <a:gd name="adj" fmla="val 1794"/>
            </a:avLst>
          </a:prstGeom>
          <a:solidFill>
            <a:srgbClr val="1C21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consequence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414016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that knows this temperature accurately can use the machine's full short-term overload capability.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that does not must apply a fixed conservative derating — and give up torque the motor could physically have delivered.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estimate is worth real power density, not just a number on a dashboard.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not just measure it?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is practical on a test bench and impractical in a product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5349240" cy="4187952"/>
          </a:xfrm>
          <a:prstGeom prst="roundRect">
            <a:avLst>
              <a:gd name="adj" fmla="val 1747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TEST BENCH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414016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Thermocouples bonded directly to the winding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fragility are acceptable — it is one machine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ground truth to learn from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5138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comes from exactly such a bench.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49240" cy="4187952"/>
          </a:xfrm>
          <a:prstGeom prst="roundRect">
            <a:avLst>
              <a:gd name="adj" fmla="val 1747"/>
            </a:avLst>
          </a:prstGeom>
          <a:solidFill>
            <a:srgbClr val="1C21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84264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PRODUCTION MOTOR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84264" y="2414016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must survive winding potential, vibration, thermal cycling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must exit a sealed housing — a new failure mode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does not survive a volume bill of materials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84264" y="5138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production motors simply do not have one.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81328"/>
            <a:ext cx="45720" cy="27432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42416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" y="19202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stator winding temperature from the signals a motor drive already measures — accurately enough to use as a thermal protection limit in place of a physical sensor.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042416" y="37673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already measured for field-oriented control — at zero marginal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42416" y="4224528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422452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 , i_q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71216" y="4224528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1216" y="422452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u_d , u_q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0016" y="4224528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0016" y="422452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42416" y="4791456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2416" y="479145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71216" y="4791456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71216" y="479145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0016" y="4791456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A31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0016" y="479145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1481328"/>
            <a:ext cx="2770632" cy="3931920"/>
          </a:xfrm>
          <a:prstGeom prst="roundRect">
            <a:avLst>
              <a:gd name="adj" fmla="val 2640"/>
            </a:avLst>
          </a:prstGeom>
          <a:solidFill>
            <a:srgbClr val="2A31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defined by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not by a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980944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1 °C mean error and one 20 °C underestimate still destroys the motor.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report max absolute error and % within ±2 °C, not just RMSE.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PMSM dynamometer telemetry — Paderborn University (LEA), via Kaggle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556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M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3230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9504" y="1609344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9504" y="17556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Hz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43230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1609344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17556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3230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51776" y="1609344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51776" y="17556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h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7351776" y="243230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82912" y="1609344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82912" y="17556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9582912" y="243230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pic>
        <p:nvPicPr>
          <p:cNvPr id="21" name="Image 0" descr="04_dataset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163824"/>
            <a:ext cx="6766560" cy="319125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772400" y="3163824"/>
            <a:ext cx="3730752" cy="3017520"/>
          </a:xfrm>
          <a:prstGeom prst="roundRect">
            <a:avLst>
              <a:gd name="adj" fmla="val 2424"/>
            </a:avLst>
          </a:prstGeom>
          <a:solidFill>
            <a:srgbClr val="1C212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inputs retained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3749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i_d, i_q  ·  u_d, u_q  ·  motor speed  ·  torque  ·  coolant  ·  ambient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09244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channels discarded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stator_tooth · stator_yoke · pm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 &gt; 0.95 with the target — and dropped anyway. Next slide explains why.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decision we made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away the three features that would have scored best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1C21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1792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stator_tooth   ·   stator_yoke   ·   pm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76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target at r &gt; 0.95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712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them yields a spectacular R². We dropped all three.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346704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defeats the objective. Those sensors are exactly the hardware we are trying to remove. A model that needs stator_tooth cannot run on a motor that has neither.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target leakage. Tooth and yoke sit millimetres from the winding in the same iron. The model would be interpolating between adjacent thermocouples — not learning thermodynamics.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627632"/>
            <a:ext cx="5056632" cy="3913632"/>
          </a:xfrm>
          <a:prstGeom prst="roundRect">
            <a:avLst>
              <a:gd name="adj" fmla="val 1869"/>
            </a:avLst>
          </a:prstGeom>
          <a:solidFill>
            <a:srgbClr val="F1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883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look like without them</a:t>
            </a:r>
            <a:endParaRPr lang="en-US" sz="1300" dirty="0"/>
          </a:p>
        </p:txBody>
      </p:sp>
      <p:pic>
        <p:nvPicPr>
          <p:cNvPr id="13" name="Image 0" descr="03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249424"/>
            <a:ext cx="3063240" cy="26974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149840" y="265176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electrical channel exceeds |r| = 0.63.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ceiling is thermal inertia showing up numerically — and it is what the next slide is about.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observation the whole project rests 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changes in seconds. Temperature answers in minutes.</a:t>
            </a:r>
            <a:endParaRPr lang="en-US" sz="1400" dirty="0"/>
          </a:p>
        </p:txBody>
      </p:sp>
      <p:pic>
        <p:nvPicPr>
          <p:cNvPr id="6" name="Image 0" descr="01_thermal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6903720" cy="5531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572768"/>
            <a:ext cx="3685032" cy="3968496"/>
          </a:xfrm>
          <a:prstGeom prst="roundRect">
            <a:avLst>
              <a:gd name="adj" fmla="val 1985"/>
            </a:avLst>
          </a:prstGeom>
          <a:solidFill>
            <a:srgbClr val="1C21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38160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breaks a naive model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249424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temperature is not a function of the present current. It is a function of the accumulated loss over the recent past.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given only instantaneous values is being asked to infer a state variable from its input — which for a system with memory is impossible in principle, not merely hard in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physics to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thermal model tells us exactly what transform to apply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1C21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810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LUMPED-PARAMETER THERMAL MODEL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139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C_th · dϑ/dt  =  P_loss(t)  −  (ϑ − ϑ_amb) / R_th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gives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7980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ϑ(t) = (1/τ) ∫ exp(−(t−s)/τ) · P_loss(s) ds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200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exponentially weighted integral of past losses.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 discrete time is exactly an EWMA:   y[k] = α·x[k] + (1−α)·y[k−1]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261104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compute EWMAs of the loss-related signals at five thermal time constants — 30 s, 120 s, 600 s, 1800 s, 3600 s — because copper, iron and housing respond on different scales.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53583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035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channels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441448" y="53583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2441448" y="6035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53583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6035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09344"/>
            <a:ext cx="5010912" cy="4681728"/>
          </a:xfrm>
          <a:prstGeom prst="roundRect">
            <a:avLst>
              <a:gd name="adj" fmla="val 1563"/>
            </a:avLst>
          </a:prstGeom>
          <a:solidFill>
            <a:srgbClr val="F1F3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transform actually help?</a:t>
            </a:r>
            <a:endParaRPr lang="en-US" sz="1300" dirty="0"/>
          </a:p>
        </p:txBody>
      </p:sp>
      <p:pic>
        <p:nvPicPr>
          <p:cNvPr id="22" name="Image 0" descr="02_ewma_moti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231136"/>
            <a:ext cx="4434840" cy="231737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812280" y="46268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signal. One 10-minute exponential filter. A diffuse cloud becomes a structured relationship — before any model has been fitted.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not use train_test_split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 Hz data, a random split measures memorisation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865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17627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0.5 s apart. A motor's temperature cannot change in half a second, so consecutive rows are near-duplicates. A random split scatters near-identical samples across both sides — the test set is effectively inside the training 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7490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C21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" y="3950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2611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entire measurement sessions. The model is evaluated the way it would be used: on a motor run it has never seen.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956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4956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profiles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4956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1,211,517 samples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5248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39696" y="5248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85616" y="5248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63,904 samples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541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39696" y="5541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65 &amp; 72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85616" y="5541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55,395 samples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664208"/>
            <a:ext cx="5010912" cy="4233672"/>
          </a:xfrm>
          <a:prstGeom prst="roundRect">
            <a:avLst>
              <a:gd name="adj" fmla="val 1728"/>
            </a:avLst>
          </a:prstGeom>
          <a:solidFill>
            <a:srgbClr val="F1F3F5"/>
          </a:solidFill>
          <a:ln/>
        </p:spPr>
      </p:sp>
      <p:pic>
        <p:nvPicPr>
          <p:cNvPr id="22" name="Image 0" descr="10_split_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10512"/>
            <a:ext cx="4663440" cy="3218199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812280" y="5047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getting this wrong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12280" y="5376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split:  R² = 0.9995, RMSE 0.66 °C   ·   whole sessions held out:  R² = 0.9908, RMSE 2.50 °C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5870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splitting understates RMSE by ~3.8×.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ladder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increase in complexity has to justify itself against the rung below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74520"/>
            <a:ext cx="310896" cy="3108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17922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17922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inputs, OLS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99048" y="17922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floor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660904"/>
            <a:ext cx="310896" cy="31089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25786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5786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engineered features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5786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feature work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3273552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" y="3447288"/>
            <a:ext cx="310896" cy="31089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33649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675888" y="33649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trees, depth 16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099048" y="3364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reference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4059936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1C2127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" y="4233672"/>
            <a:ext cx="310896" cy="310896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41513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41513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128, early stopping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099048" y="41513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approximator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" y="48463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" y="5020056"/>
            <a:ext cx="310896" cy="31089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953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335024" y="4937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3675888" y="49377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 trees, early-stopped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099048" y="4937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tabular baseline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686800" y="1700784"/>
            <a:ext cx="2816352" cy="3950208"/>
          </a:xfrm>
          <a:prstGeom prst="roundRect">
            <a:avLst>
              <a:gd name="adj" fmla="val 2597"/>
            </a:avLst>
          </a:prstGeom>
          <a:solidFill>
            <a:srgbClr val="1C21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06840" y="197510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metrics.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3017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fitted on the identical training partition and scored on the identical held-out sessions, so the comparison isolates the model and nothing else.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006840" y="4901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rung wins 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521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beat every model we tried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836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algorithm. Same data. Same training procedure. Only the inputs changed.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578608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1C2127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2816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8 raw inputs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4930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10128" y="3602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17.79 °C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4718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8.1 % of samples within ±2 °C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53328" y="2578608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2A313A"/>
          </a:solidFill>
          <a:ln w="2032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2816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EWMA features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930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4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05088" y="3602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 °C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705088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4718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81.3 % of samples within ±2 °C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42432" y="3675888"/>
            <a:ext cx="676656" cy="676656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42432" y="3675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724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feature engineering outperformed every increase in model sophistication attempted in this project.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sessions only — profiles 65 and 72, 55,395 samples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27632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32688"/>
                <a:gridCol w="932688"/>
                <a:gridCol w="932688"/>
                <a:gridCol w="932688"/>
                <a:gridCol w="932688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(raw inputs)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(+ EWMA)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(2 × 128)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— tuned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8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" y="41330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metrics do not rank the models identically — see the next slide.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4553712"/>
            <a:ext cx="6949440" cy="1609344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4718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gained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715768" y="4718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1.67 → 1.54 °C,  MAE 1.26 → 1.10 °C</a:t>
            </a:r>
            <a:endParaRPr lang="en-US" sz="123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49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cost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715768" y="54498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9.84 → 11.32 °C — the search optimised RMSE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7863840" y="1627632"/>
            <a:ext cx="3639312" cy="4498848"/>
          </a:xfrm>
          <a:prstGeom prst="roundRect">
            <a:avLst>
              <a:gd name="adj" fmla="val 2010"/>
            </a:avLst>
          </a:prstGeom>
          <a:solidFill>
            <a:srgbClr val="1C21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1865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194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2 × 128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2560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944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 °C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0.9965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986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43342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11.32 °C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18388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error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5029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84.2 %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5376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±2 °C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results worth explaining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interpretation matters more than the 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7589520" cy="1298448"/>
          </a:xfrm>
          <a:prstGeom prst="roundRect">
            <a:avLst>
              <a:gd name="adj" fmla="val 5634"/>
            </a:avLst>
          </a:prstGeom>
          <a:solidFill>
            <a:srgbClr val="F1F3F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847088"/>
            <a:ext cx="365760" cy="3657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17922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beat both tree ensembles.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12140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are piecewise-constant — a prediction is the mean of the training samples in a leaf, so they cannot produce a value outside the range they saw. Held-out sessions contain operating points the 64 training profiles never visit. An MLP is smooth and continues the trend. Under genuine extrapolation, smoothness is the decisive property.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58368" y="3108960"/>
            <a:ext cx="7589520" cy="1298448"/>
          </a:xfrm>
          <a:prstGeom prst="roundRect">
            <a:avLst>
              <a:gd name="adj" fmla="val 5634"/>
            </a:avLst>
          </a:prstGeom>
          <a:solidFill>
            <a:srgbClr val="F1F3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328416"/>
            <a:ext cx="365760" cy="36576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273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beat LightGBM.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360273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features encode the thermal physics, the residual relationship is close to linear. A low-variance estimator then generalises across sessions better than a high-capacity one, which fits session-specific structure that does not transfer.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58368" y="4590288"/>
            <a:ext cx="7589520" cy="1298448"/>
          </a:xfrm>
          <a:prstGeom prst="roundRect">
            <a:avLst>
              <a:gd name="adj" fmla="val 5634"/>
            </a:avLst>
          </a:prstGeom>
          <a:solidFill>
            <a:srgbClr val="F1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809744"/>
            <a:ext cx="365760" cy="36576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754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worst-case error disagree.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508406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attains RMSE 2.08 °C — better than LightGBM's 2.50 °C — yet its worst case is 26.19 °C against 11.05 °C. For a thermal limit the second column governs. A model chosen on RMSE alone would have been the wrong choice.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549640" y="1627632"/>
            <a:ext cx="2953512" cy="4443984"/>
          </a:xfrm>
          <a:prstGeom prst="roundRect">
            <a:avLst>
              <a:gd name="adj" fmla="val 2477"/>
            </a:avLst>
          </a:prstGeom>
          <a:solidFill>
            <a:srgbClr val="1C21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69680" y="1865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check</a:t>
            </a:r>
            <a:endParaRPr lang="en-US" sz="1300" dirty="0"/>
          </a:p>
        </p:txBody>
      </p:sp>
      <p:pic>
        <p:nvPicPr>
          <p:cNvPr id="23" name="Image 0" descr="07_residu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2231136"/>
            <a:ext cx="2606040" cy="1271239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869680" y="3602736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8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does not grow with operating temperature.</a:t>
            </a:r>
            <a:endParaRPr lang="en-US" sz="1180" dirty="0"/>
          </a:p>
          <a:p>
            <a:pPr indent="0" marL="0">
              <a:lnSpc>
                <a:spcPts val="1700"/>
              </a:lnSpc>
              <a:buNone/>
            </a:pPr>
            <a:endParaRPr lang="en-US" sz="118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8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check that matters: a model accurate when cool and poor when hot would be useless, because the hot regime is the only one where the estimate is consulted.</a:t>
            </a:r>
            <a:endParaRPr lang="en-US" sz="11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on motors the model has never seen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session appeared in training in any form</a:t>
            </a:r>
            <a:endParaRPr lang="en-US" sz="1400" dirty="0"/>
          </a:p>
        </p:txBody>
      </p:sp>
      <p:pic>
        <p:nvPicPr>
          <p:cNvPr id="6" name="Image 0" descr="06_predict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7360920" cy="51076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554480"/>
            <a:ext cx="3227832" cy="5074920"/>
          </a:xfrm>
          <a:prstGeom prst="roundRect">
            <a:avLst>
              <a:gd name="adj" fmla="val 2266"/>
            </a:avLst>
          </a:prstGeom>
          <a:solidFill>
            <a:srgbClr val="1C21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at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249424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transients under aggressive load cycling are tracked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exponential cool-down is tracked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deviations sit at sharp transitions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73659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8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lag at step changes is the expected signature of a filter-based feature set meeting a change faster than its shortest time constant.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studies that test whether the result is real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and leakage — both with everything else held constant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— where does the accuracy come from?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976" y="22311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33856" y="22494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input channels</a:t>
            </a:r>
            <a:endParaRPr lang="en-US" sz="122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2494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24942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288950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33856" y="29077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instantaneous physical terms</a:t>
            </a:r>
            <a:endParaRPr lang="en-US" sz="122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290779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9077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" y="354787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33856" y="35661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2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EWMA thermal history</a:t>
            </a:r>
            <a:endParaRPr lang="en-US" sz="1220" dirty="0"/>
          </a:p>
        </p:txBody>
      </p:sp>
      <p:sp>
        <p:nvSpPr>
          <p:cNvPr id="18" name="Text 16"/>
          <p:cNvSpPr txBox="1"/>
          <p:nvPr/>
        </p:nvSpPr>
        <p:spPr>
          <a:xfrm>
            <a:off x="3785616" y="356616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356616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85616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        R²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334256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physical terms buy nothing on their own — the small regression is within run-to-run variation. Only thermal history moves the result. The gain is not from having more columns.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1609344"/>
            <a:ext cx="5056632" cy="4206240"/>
          </a:xfrm>
          <a:prstGeom prst="roundRect">
            <a:avLst>
              <a:gd name="adj" fmla="val 1739"/>
            </a:avLst>
          </a:prstGeom>
          <a:solidFill>
            <a:srgbClr val="1C21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— the cost of the wrong split</a:t>
            </a:r>
            <a:endParaRPr lang="en-US" sz="1200" dirty="0"/>
          </a:p>
        </p:txBody>
      </p:sp>
      <p:pic>
        <p:nvPicPr>
          <p:cNvPr id="24" name="Image 0" descr="09_ablation_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286000"/>
            <a:ext cx="4572000" cy="1860847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766560" y="4206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features, only the partitioning changes. Random splitting reports R² = 0.9995 — a figure describing the model's ability to reproduce samples it has already seen in near-identical form.</a:t>
            </a:r>
            <a:endParaRPr lang="en-US" sz="122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52303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time-series sampled faster than the system's dynamics, grouped splitting is a correctness requirement, not a refinement.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Tuning, without undoing the split discipline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under GroupKFold grouped on profile_id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1C21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THAT MATTERS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57984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is never scored on a session it was fitted on.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KFold inside the search would reintroduce exactly the leakage the outer split removes — and invisibly, because the CV score would simply look better.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078224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42245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9011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31136" y="4078224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31136" y="42245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49011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folds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03904" y="4078224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03904" y="42245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49011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search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596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 hidden (128, 128) · alpha 0.01 · lr 0.001</a:t>
            </a:r>
            <a:endParaRPr lang="en-US" sz="1150" dirty="0"/>
          </a:p>
        </p:txBody>
      </p:sp>
      <p:pic>
        <p:nvPicPr>
          <p:cNvPr id="19" name="Image 0" descr="11_tuning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737360"/>
            <a:ext cx="5943600" cy="275207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77840" y="4572000"/>
            <a:ext cx="5925312" cy="1481328"/>
          </a:xfrm>
          <a:prstGeom prst="roundRect">
            <a:avLst>
              <a:gd name="adj" fmla="val 4938"/>
            </a:avLst>
          </a:prstGeom>
          <a:solidFill>
            <a:srgbClr val="F1F3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70448" y="477316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RMSE by ~8 % and MAE by ~13 %. It did not improve worst-case error — that moved from 9.84 °C to 11.32 °C, because the search optimised RMSE and nothing constrained the tail.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error actually lives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down three ways on the held-out sessions</a:t>
            </a:r>
            <a:endParaRPr lang="en-US" sz="1400" dirty="0"/>
          </a:p>
        </p:txBody>
      </p:sp>
      <p:pic>
        <p:nvPicPr>
          <p:cNvPr id="6" name="Image 0" descr="12_error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44752"/>
            <a:ext cx="10058400" cy="48333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6181344"/>
            <a:ext cx="10844784" cy="512064"/>
          </a:xfrm>
          <a:prstGeom prst="roundRect">
            <a:avLst>
              <a:gd name="adj" fmla="val 14286"/>
            </a:avLst>
          </a:prstGeom>
          <a:solidFill>
            <a:srgbClr val="1C21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625449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 holds near 1 °C across every temperature and load band — accuracy does not decay when the motor is hot or working hard. The real weakness is the third panel: the worst errors sit in the first minutes, while the 1800 s and 3600 s filters are still converging.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learned the physics we designed for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evidence that the result is not an artefact</a:t>
            </a:r>
            <a:endParaRPr lang="en-US" sz="1400" dirty="0"/>
          </a:p>
        </p:txBody>
      </p:sp>
      <p:pic>
        <p:nvPicPr>
          <p:cNvPr id="6" name="Image 0" descr="08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91056"/>
            <a:ext cx="5943600" cy="39764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91056"/>
            <a:ext cx="4553712" cy="4224528"/>
          </a:xfrm>
          <a:prstGeom prst="roundRect">
            <a:avLst>
              <a:gd name="adj" fmla="val 1732"/>
            </a:avLst>
          </a:prstGeom>
          <a:solidFill>
            <a:srgbClr val="1C21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top-15 features are thermal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69480" y="2340864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2A31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0" y="2432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coolant_ewma_600s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761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8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heat-sink boundary condition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7269480" y="3310128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2A31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i_s²_ewma_600s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730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8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copper-loss term,  P = I²R</a:t>
            </a:r>
            <a:endParaRPr lang="en-US" sz="118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4352544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two terms the lumped-parameter thermal model on slide 8 identifies as dominant.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no information about motor thermodynamics beyond which signals to filter, the model independently concentrated on them.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cheap enough to run on the drive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what makes it a replacement for a thermocouple, not an offline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560320" cy="1700784"/>
          </a:xfrm>
          <a:prstGeom prst="roundRect">
            <a:avLst>
              <a:gd name="adj" fmla="val 4301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MAC/s at the 2 Hz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27632"/>
            <a:ext cx="2560320" cy="1700784"/>
          </a:xfrm>
          <a:prstGeom prst="roundRect">
            <a:avLst>
              <a:gd name="adj" fmla="val 4301"/>
            </a:avLst>
          </a:prstGeom>
          <a:solidFill>
            <a:srgbClr val="F1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registers for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feature extractor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627632"/>
            <a:ext cx="2560320" cy="1700784"/>
          </a:xfrm>
          <a:prstGeom prst="roundRect">
            <a:avLst>
              <a:gd name="adj" fmla="val 4301"/>
            </a:avLst>
          </a:prstGeom>
          <a:solidFill>
            <a:srgbClr val="F1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44768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multiply-add per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feature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87968" y="1627632"/>
            <a:ext cx="2560320" cy="1700784"/>
          </a:xfrm>
          <a:prstGeom prst="roundRect">
            <a:avLst>
              <a:gd name="adj" fmla="val 4301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87968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output precision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(Q16.16 accumulators)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584448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C21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0976" y="37856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FEATURE EXTRACTOR IS HARDWARE-FRIENDLY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1148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EWMA is a single-pole IIR filter: one multiply, one add, one register. No windowing buffer, no stored history.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one-hour sliding-window statistic at 2 Hz would need 7,200 buffered samples per signal. The recursive form needs one.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584448"/>
            <a:ext cx="5056632" cy="2286000"/>
          </a:xfrm>
          <a:prstGeom prst="roundRect">
            <a:avLst>
              <a:gd name="adj" fmla="val 3200"/>
            </a:avLst>
          </a:prstGeom>
          <a:solidFill>
            <a:srgbClr val="F1F3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7856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114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is still 9.84 °C — a deployed limit needs a margin, just a smaller one than a fixed derating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one machine on one bench; a different design needs retraining or transfer learning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largest at sharp load transitions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take 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347472" cy="34747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47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was met.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579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1.54 °C, R² 0.9965, 84.2 % within ±2 °C on motor sessions never seen during training.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706624"/>
            <a:ext cx="347472" cy="34747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33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not model selection, produced the result.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443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unchanged linear regression improves from R² 0.53 to 0.99 once its inputs encode thermal history.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493008"/>
            <a:ext cx="347472" cy="34747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198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protocol changes the answer by 4×.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307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Profile-wise splitting is a correctness requirement on data of this kind, not a refinement.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279392"/>
            <a:ext cx="347472" cy="34747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06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model generalises better than tree ensembles here.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171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sessions demand extrapolation, and piecewise-constant models cannot extrapolate.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065776"/>
            <a:ext cx="347472" cy="34747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92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the intended physics.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03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dominant features are the coolant boundary condition and the copper-loss term.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 sequence models that learn the time constants  ·  multi-output prediction of all four temperatures  ·  physics-informed loss  ·  fixed-point RTL implementation of the EWMA extractor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475488" cy="475488"/>
          </a:xfrm>
          <a:prstGeom prst="ellipse">
            <a:avLst/>
          </a:prstGeom>
          <a:solidFill>
            <a:srgbClr val="1C21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35024" y="365760"/>
            <a:ext cx="1016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950976"/>
            <a:ext cx="1016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 — not presented unless asked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 lumped-parameter thermal model?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0312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exist and work, but need per-machine parameter identification on a bench. We reach comparable accuracy directly from logged data, and our features are that model's analytical solution anyway.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09344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556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Wouldn't keeping stator_tooth give better accuracy?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and the result would be worthless. Those sensors are the hardware we are replacing; a production motor has none of them.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90672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236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MLP beat gradient boosting?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84448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predict the mean of a leaf, so they cannot output values beyond the training range. Held-out sessions require extrapolation; a smooth model handles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090672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3236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R² = 0.996 not suspiciously high?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84448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be under a random split — we show that gives 0.9995 and is meaningless. Ours is on entirely held-out sessions, and we report the 9.84 °C worst case alongside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572000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7183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choose the five EWMA spans?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65776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physical time constants: copper responds in tens of seconds, iron in minutes, housing and coolant in tens of minutes. We bracketed that range and let the model weight them.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6208" y="4572000"/>
            <a:ext cx="5257800" cy="1335024"/>
          </a:xfrm>
          <a:prstGeom prst="roundRect">
            <a:avLst>
              <a:gd name="adj" fmla="val 5479"/>
            </a:avLst>
          </a:prstGeom>
          <a:solidFill>
            <a:srgbClr val="F1F3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7183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8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with more time?</a:t>
            </a:r>
            <a:endParaRPr lang="en-US" sz="128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065776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CNN or LSTM that learns the time constants instead of having them fixed, and a physics-informed loss enforcing the thermal ODE.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2026-10-05T12:31:11Z</dcterms:created>
  <dcterms:modified xsi:type="dcterms:W3CDTF">2026-10-05T12:31:11Z</dcterms:modified>
</cp:coreProperties>
</file>