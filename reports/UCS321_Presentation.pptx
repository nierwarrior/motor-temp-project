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we picked the problem statement that sits closest to what we already study — electrical machines and sensor data. The framing we chose is a virtual sensor: replace a physical thermocouple with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point to land: this is not an academic regression target. Insulation life halving every 10 degrees is the standard engineering rule of thumb, and it is why the limit is enforced conservatively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 between these two columns is the entire business case for the project. Examiner may ask: why not a thermal model instead of ML? Answer — lumped-parameter models exist and need per-machine parameter identification; we get comparable accuracy straight from logged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where the marks for problem understanding are won. The last box is the one to emphasise: choosing the right success metric is itself an engineering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69 sessions, each a continuous recording with its own excitation schedule. The session is the natural unit for splitting — that becomes important three slides from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a question here: 'wouldn't your accuracy be higher if you kept them?' Yes — and the result would be worthless, because the deployment target has none of those sensors. This is the slide that shows we understood the problem rather than the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bottom panel against the middle one. Temperature keeps rising after current has already stepped down. Everything that follows is a response to this one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innovation slide. The claim to make explicitly: we did not pick EWMA by trial and error — the analytical solution of the thermal ODE IS an exponentially weighted integral, so the feature is the physics written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Strongest viva moment in the deck. Most teams working on time-series data will report the 0.9995 figure. Being able to say why it is wrong, and quantify it,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the subsampling: RF and MLP were fitted on every 10th training sample. At 2 Hz the data is so autocorrelated that this costs essentially no information and saves an order of magnitude of compute.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on this slide. If the examiner remembers one thing, it should be this pair of numbers. It also answers 'did you just throw XGBoost at it' — no, the physics did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flagging: Ridge beats LightGBM on RMSE but has a 26 degree worst case versus LightGBM's 11. Selecting on RMSE alone would have picked the wrong model for a protection function.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 1 is the one examiners find most interesting — it is counter to the usual assumption that gradient boosting always wins on tabular data. Be ready to explain leaf-wise constant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how to fix the transition lag: add a shorter EWMA span, or move to a sequence model that learns the time constants rather than having them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studies are what turn a result into evidence. Without the ablation we could not claim the EWMAs specifically caused the gain rather than the feature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interpretability slide. It closes the loop: we derived the features from physics, and the trained model independently ranked the physically dominant terms highest.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this back to our own background — this is the slide where the VLSI angle pays off. The EWMA recurrence maps directly to a small fixed-point datapath; an RTL implementation is listed as future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point 2 — it is the transferable lesson, not just a result about motors.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hidden during the talk; jump to it only if one of these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1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754880" cy="4754880"/>
          </a:xfrm>
          <a:prstGeom prst="ellipse">
            <a:avLst/>
          </a:prstGeom>
          <a:solidFill>
            <a:srgbClr val="2A313A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-182880"/>
            <a:ext cx="2377440" cy="23774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4173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UCS321 · AI FOR ENGINEERS · MINI PROJECT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74520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Electric Motor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60320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Winding Temperature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40156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machine-learning virtual sensor that replaces a thermocouple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" y="4041648"/>
            <a:ext cx="1371600" cy="25603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431596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6 — General Electric (GE) Power Systems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4718304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Lohhith Thakur · 1025220020    |    [ group members 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winding temperature is the number that matters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binding constraint on how hard a motor may be driven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627632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PMSM converts electrical power to mechanical power efficiently, but the loss appears as heat in the stator copper. The winding's enamel insulation has a finite thermal rating. Exceed it and the enamel degrades chemically until adjacent turns short and the machine is destroyed.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3602736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1F3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3950208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°C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62686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H insulation rating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34056" y="3602736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1F3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34056" y="3950208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2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462686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insulation life per +10 °C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809744" y="3602736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1F3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9744" y="3950208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4809744" y="462686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motors with 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winding thermocouple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0" y="1627632"/>
            <a:ext cx="4645152" cy="4078224"/>
          </a:xfrm>
          <a:prstGeom prst="roundRect">
            <a:avLst>
              <a:gd name="adj" fmla="val 1794"/>
            </a:avLst>
          </a:prstGeom>
          <a:solidFill>
            <a:srgbClr val="1C212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9568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consequence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2414016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controller that knows this temperature accurately can use the machine's full short-term overload capability.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controller that does not must apply a fixed conservative derating — and give up torque the motor could physically have delivered.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estimate is worth real power density, not just a number on a dashboard.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why not just measure it?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sensor is practical on a test bench and impractical in a product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5349240" cy="4187952"/>
          </a:xfrm>
          <a:prstGeom prst="roundRect">
            <a:avLst>
              <a:gd name="adj" fmla="val 1747"/>
            </a:avLst>
          </a:prstGeom>
          <a:solidFill>
            <a:srgbClr val="F1F3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87552" y="19385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TEST BENCH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414016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Thermocouples bonded directly to the winding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fragility are acceptable — it is one machine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us ground truth to learn from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5138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dataset comes from exactly such a bench.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55080" y="1645920"/>
            <a:ext cx="5349240" cy="4187952"/>
          </a:xfrm>
          <a:prstGeom prst="roundRect">
            <a:avLst>
              <a:gd name="adj" fmla="val 1747"/>
            </a:avLst>
          </a:prstGeom>
          <a:solidFill>
            <a:srgbClr val="1C21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84264" y="19385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PRODUCTION MOTOR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684264" y="2414016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must survive winding potential, vibration, thermal cycling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must exit a sealed housing — a new failure mode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does not survive a volume bill of materials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684264" y="5138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production motors simply do not have one.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1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481328"/>
            <a:ext cx="45720" cy="27432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2416" y="1481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" y="192024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stator winding temperature from the signals a motor drive already measures — accurately enough to use as a thermal protection limit in place of a physical sensor.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42416" y="3767328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already measured for field-oriented control — at zero marginal cost.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42416" y="4224528"/>
            <a:ext cx="1664208" cy="438912"/>
          </a:xfrm>
          <a:prstGeom prst="roundRect">
            <a:avLst>
              <a:gd name="adj" fmla="val 12500"/>
            </a:avLst>
          </a:prstGeom>
          <a:solidFill>
            <a:srgbClr val="2A31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4224528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i_d , i_q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871216" y="4224528"/>
            <a:ext cx="1664208" cy="438912"/>
          </a:xfrm>
          <a:prstGeom prst="roundRect">
            <a:avLst>
              <a:gd name="adj" fmla="val 12500"/>
            </a:avLst>
          </a:prstGeom>
          <a:solidFill>
            <a:srgbClr val="2A31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71216" y="4224528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u_d , u_q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0016" y="4224528"/>
            <a:ext cx="1664208" cy="438912"/>
          </a:xfrm>
          <a:prstGeom prst="roundRect">
            <a:avLst>
              <a:gd name="adj" fmla="val 12500"/>
            </a:avLst>
          </a:prstGeom>
          <a:solidFill>
            <a:srgbClr val="2A31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00016" y="4224528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42416" y="4791456"/>
            <a:ext cx="1664208" cy="438912"/>
          </a:xfrm>
          <a:prstGeom prst="roundRect">
            <a:avLst>
              <a:gd name="adj" fmla="val 12500"/>
            </a:avLst>
          </a:prstGeom>
          <a:solidFill>
            <a:srgbClr val="2A31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42416" y="4791456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71216" y="4791456"/>
            <a:ext cx="1664208" cy="438912"/>
          </a:xfrm>
          <a:prstGeom prst="roundRect">
            <a:avLst>
              <a:gd name="adj" fmla="val 12500"/>
            </a:avLst>
          </a:prstGeom>
          <a:solidFill>
            <a:srgbClr val="2A31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71216" y="4791456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coolant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0016" y="4791456"/>
            <a:ext cx="1664208" cy="438912"/>
          </a:xfrm>
          <a:prstGeom prst="roundRect">
            <a:avLst>
              <a:gd name="adj" fmla="val 12500"/>
            </a:avLst>
          </a:prstGeom>
          <a:solidFill>
            <a:srgbClr val="2A31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00016" y="4791456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732520" y="1481328"/>
            <a:ext cx="2770632" cy="3931920"/>
          </a:xfrm>
          <a:prstGeom prst="roundRect">
            <a:avLst>
              <a:gd name="adj" fmla="val 2640"/>
            </a:avLst>
          </a:prstGeom>
          <a:solidFill>
            <a:srgbClr val="2A313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52560" y="1828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is defined by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not by a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2980944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with 1 °C mean error and one 20 °C underestimate still destroys the motor.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report max absolute error and % within ±2 °C, not just RMSE.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2E9E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PMSM dynamometer telemetry — Paderborn University (LEA), via Kaggle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609344"/>
            <a:ext cx="2029968" cy="13716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5564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1.33 M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432304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89504" y="1609344"/>
            <a:ext cx="2029968" cy="13716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89504" y="175564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Hz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2889504" y="2432304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rate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120640" y="1609344"/>
            <a:ext cx="2029968" cy="13716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120640" y="175564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432304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sessions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51776" y="1609344"/>
            <a:ext cx="2029968" cy="13716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51776" y="175564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 h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7351776" y="2432304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82912" y="1609344"/>
            <a:ext cx="2029968" cy="13716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582912" y="175564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9582912" y="2432304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150" dirty="0"/>
          </a:p>
        </p:txBody>
      </p:sp>
      <p:pic>
        <p:nvPicPr>
          <p:cNvPr id="21" name="Image 0" descr="/home/claude/proj/figures/04_dataset_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163824"/>
            <a:ext cx="6766560" cy="319125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772400" y="3163824"/>
            <a:ext cx="3730752" cy="3017520"/>
          </a:xfrm>
          <a:prstGeom prst="roundRect">
            <a:avLst>
              <a:gd name="adj" fmla="val 2424"/>
            </a:avLst>
          </a:prstGeom>
          <a:solidFill>
            <a:srgbClr val="1C212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34015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inputs retained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92440" y="37490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i_d, i_q  ·  u_d, u_q  ·  motor speed  ·  torque  ·  coolant  ·  ambient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092440" y="4590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channels discarded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092440" y="49377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stator_tooth · stator_yoke · pm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r &gt; 0.95 with the target — and dropped anyway. Next slide explains why.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important decision we made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Throwing away the three features that would have scored best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627632"/>
            <a:ext cx="5212080" cy="1097280"/>
          </a:xfrm>
          <a:prstGeom prst="roundRect">
            <a:avLst>
              <a:gd name="adj" fmla="val 6667"/>
            </a:avLst>
          </a:prstGeom>
          <a:solidFill>
            <a:srgbClr val="1C212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17922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stator_tooth   ·   stator_yoke   ·   pm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1762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the target at r &gt; 0.95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712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them yields a spectacular R². We dropped all three.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346704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defeats the objective. Those sensors are exactly the hardware we are trying to remove. A model that needs stator_tooth cannot run on a motor that has neither.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target leakage. Tooth and yoke sit millimetres from the winding in the same iron. The model would be interpolating between adjacent thermocouples — not learning thermodynamics.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46520" y="1627632"/>
            <a:ext cx="5056632" cy="3913632"/>
          </a:xfrm>
          <a:prstGeom prst="roundRect">
            <a:avLst>
              <a:gd name="adj" fmla="val 1869"/>
            </a:avLst>
          </a:prstGeom>
          <a:solidFill>
            <a:srgbClr val="F1F3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0" y="18836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look like without them</a:t>
            </a:r>
            <a:endParaRPr lang="en-US" sz="1300" dirty="0"/>
          </a:p>
        </p:txBody>
      </p:sp>
      <p:pic>
        <p:nvPicPr>
          <p:cNvPr id="13" name="Image 0" descr="/home/claude/proj/figures/03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2249424"/>
            <a:ext cx="3063240" cy="26974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149840" y="2651760"/>
            <a:ext cx="1417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raw electrical channel exceeds |r| = 0.63.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ceiling is thermal inertia showing up numerically — and it is what the next slide is about.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observation the whole project rests 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changes in seconds. Temperature answers in minutes.</a:t>
            </a:r>
            <a:endParaRPr lang="en-US" sz="1400" dirty="0"/>
          </a:p>
        </p:txBody>
      </p:sp>
      <p:pic>
        <p:nvPicPr>
          <p:cNvPr id="6" name="Image 0" descr="/home/claude/proj/figures/01_thermal_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903720" cy="553160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18120" y="1572768"/>
            <a:ext cx="3685032" cy="3968496"/>
          </a:xfrm>
          <a:prstGeom prst="roundRect">
            <a:avLst>
              <a:gd name="adj" fmla="val 1985"/>
            </a:avLst>
          </a:prstGeom>
          <a:solidFill>
            <a:srgbClr val="1C212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138160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breaks a naive model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2249424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Winding temperature is not a function of the present current. It is a function of the accumulated loss over the recent past.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given only instantaneous values is being asked to infer a state variable from its input — which for a system with memory is impossible in principle, not merely hard in practice.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physics to features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thermal model tells us exactly what transform to apply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609344"/>
            <a:ext cx="5257800" cy="2423160"/>
          </a:xfrm>
          <a:prstGeom prst="roundRect">
            <a:avLst>
              <a:gd name="adj" fmla="val 3019"/>
            </a:avLst>
          </a:prstGeom>
          <a:solidFill>
            <a:srgbClr val="1C212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8105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LUMPED-PARAMETER THERMAL MODEL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13969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C_th · dϑ/dt  =  P_loss(t)  −  (ϑ − ϑ_amb) / R_th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54203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gives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9806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ϑ(t) = (1/τ) ∫ exp(−(t−s)/τ) · P_loss(s) ds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2004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 exponentially weighted integral of past losses.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 discrete time is exactly an EWMA:   y[k] = α·x[k] + (1−α)·y[k−1]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4261104"/>
            <a:ext cx="5257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compute EWMAs of the loss-related signals at five thermal time constants — 30 s, 120 s, 600 s, 1800 s, 3600 s — because copper, iron and housing respond on different scales.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53583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60350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channels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441448" y="53583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2441448" y="60350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224528" y="53583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4224528" y="60350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92240" y="1609344"/>
            <a:ext cx="5010912" cy="4681728"/>
          </a:xfrm>
          <a:prstGeom prst="roundRect">
            <a:avLst>
              <a:gd name="adj" fmla="val 1563"/>
            </a:avLst>
          </a:prstGeom>
          <a:solidFill>
            <a:srgbClr val="F1F3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12280" y="1847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one transform actually help?</a:t>
            </a:r>
            <a:endParaRPr lang="en-US" sz="1300" dirty="0"/>
          </a:p>
        </p:txBody>
      </p:sp>
      <p:pic>
        <p:nvPicPr>
          <p:cNvPr id="22" name="Image 0" descr="/home/claude/proj/figures/02_ewma_motiv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231136"/>
            <a:ext cx="4434840" cy="231737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6812280" y="462686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signal. One 10-minute exponential filter. A diffuse cloud becomes a structured relationship — before any model has been fitted.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did not use train_test_split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2 Hz data, a random split measures memorisation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664208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F1F3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8653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176272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are 0.5 s apart. A motor's temperature cannot change in half a second, so consecutive rows are near-duplicates. A random split scatters near-identical samples across both sides — the test set is effectively inside the training set.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7490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C212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50976" y="39502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INSTEAD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426110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out entire measurement sessions. The model is evaluated the way it would be used: on a motor run it has never seen.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495604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39696" y="4956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profiles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49560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1,211,517 samples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52486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139696" y="52486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profiles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785616" y="52486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63,904 samples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554126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139696" y="55412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65 &amp; 72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785616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55,395 samples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92240" y="1664208"/>
            <a:ext cx="5010912" cy="4233672"/>
          </a:xfrm>
          <a:prstGeom prst="roundRect">
            <a:avLst>
              <a:gd name="adj" fmla="val 1728"/>
            </a:avLst>
          </a:prstGeom>
          <a:solidFill>
            <a:srgbClr val="F1F3F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19019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getting this wrong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812280" y="22677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model. Same features. Only the split changes.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12280" y="2706624"/>
            <a:ext cx="44348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28163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80/20 over rows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31455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0.9995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9098280" y="321868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0.66 °C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12280" y="3877056"/>
            <a:ext cx="44348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086600" y="39867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sessions held out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086600" y="431596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9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0.9908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9098280" y="43891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2.50 °C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12280" y="517550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splitting understates RMSE by ~3.8×. That first number describes nothing.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2E9E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ladder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increase in complexity has to justify itself against the rung below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700784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F1F3F5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1874520"/>
            <a:ext cx="310896" cy="310896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179222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675888" y="1792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raw inputs, 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099048" y="179222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floor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2487168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F1F3F5"/>
          </a:solidFill>
          <a:ln/>
        </p:spPr>
      </p:sp>
      <p:sp>
        <p:nvSpPr>
          <p:cNvPr id="13" name="Shape 11"/>
          <p:cNvSpPr/>
          <p:nvPr/>
        </p:nvSpPr>
        <p:spPr>
          <a:xfrm>
            <a:off x="859536" y="2660904"/>
            <a:ext cx="310896" cy="310896"/>
          </a:xfrm>
          <a:prstGeom prst="ellipse">
            <a:avLst/>
          </a:prstGeom>
          <a:solidFill>
            <a:srgbClr val="2E9E8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536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35024" y="257860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regression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3675888" y="25786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engineered features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099048" y="2578608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feature work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" y="3273552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F1F3F5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" y="3447288"/>
            <a:ext cx="310896" cy="310896"/>
          </a:xfrm>
          <a:prstGeom prst="ellipse">
            <a:avLst/>
          </a:prstGeom>
          <a:solidFill>
            <a:srgbClr val="2E9E8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9536" y="3447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35024" y="336499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3675888" y="33649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trees, depth 16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099048" y="33649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non-parametric reference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4059936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1C2127"/>
          </a:solidFill>
          <a:ln/>
        </p:spPr>
      </p:sp>
      <p:sp>
        <p:nvSpPr>
          <p:cNvPr id="25" name="Shape 23"/>
          <p:cNvSpPr/>
          <p:nvPr/>
        </p:nvSpPr>
        <p:spPr>
          <a:xfrm>
            <a:off x="859536" y="4233672"/>
            <a:ext cx="310896" cy="310896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9536" y="4233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35024" y="4151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675888" y="4151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128, early stopping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099048" y="415137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approximator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8368" y="4846320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F1F3F5"/>
          </a:solidFill>
          <a:ln/>
        </p:spPr>
      </p:sp>
      <p:sp>
        <p:nvSpPr>
          <p:cNvPr id="31" name="Shape 29"/>
          <p:cNvSpPr/>
          <p:nvPr/>
        </p:nvSpPr>
        <p:spPr>
          <a:xfrm>
            <a:off x="859536" y="5020056"/>
            <a:ext cx="310896" cy="310896"/>
          </a:xfrm>
          <a:prstGeom prst="ellipse">
            <a:avLst/>
          </a:prstGeom>
          <a:solidFill>
            <a:srgbClr val="2E9E8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59536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335024" y="493776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3675888" y="49377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743 trees, early-stopped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099048" y="4937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tabular baseline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686800" y="1700784"/>
            <a:ext cx="2816352" cy="3950208"/>
          </a:xfrm>
          <a:prstGeom prst="roundRect">
            <a:avLst>
              <a:gd name="adj" fmla="val 2597"/>
            </a:avLst>
          </a:prstGeom>
          <a:solidFill>
            <a:srgbClr val="1C212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006840" y="19751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split.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metrics.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9006840" y="30175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fitted on the identical training partition and scored on the identical held-out sessions, so the comparison isolates the model and nothing else.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9006840" y="49011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rung wins →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1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FINDING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52144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beat every model we tried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8836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algorithm. Same data. Same training procedure. Only the inputs changed.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578608"/>
            <a:ext cx="4937760" cy="2834640"/>
          </a:xfrm>
          <a:prstGeom prst="roundRect">
            <a:avLst>
              <a:gd name="adj" fmla="val 2581"/>
            </a:avLst>
          </a:prstGeom>
          <a:solidFill>
            <a:srgbClr val="1C2127"/>
          </a:solidFill>
          <a:ln w="12700">
            <a:solidFill>
              <a:srgbClr val="2A31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" y="281635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8 raw inputs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34930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4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41696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310128" y="3602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17.79 °C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10128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42416" y="47183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8.1 % of samples within ±2 °C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53328" y="2578608"/>
            <a:ext cx="4937760" cy="2834640"/>
          </a:xfrm>
          <a:prstGeom prst="roundRect">
            <a:avLst>
              <a:gd name="adj" fmla="val 2581"/>
            </a:avLst>
          </a:prstGeom>
          <a:solidFill>
            <a:srgbClr val="2A313A"/>
          </a:solidFill>
          <a:ln w="20320">
            <a:solidFill>
              <a:srgbClr val="E883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7376" y="281635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EWMA features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34930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40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0.9936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41696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705088" y="3602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2.08 °C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705088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47183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81.3 % of samples within ±2 °C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742432" y="3675888"/>
            <a:ext cx="676656" cy="676656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742432" y="367588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572414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Domain-informed feature engineering outperformed every increase in model sophistication attempted in this project.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2E9E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model comparison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sessions only — profiles 65 and 72, 55,395 samples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27632"/>
          <a:ext cx="69494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32688"/>
                <a:gridCol w="932688"/>
                <a:gridCol w="932688"/>
                <a:gridCol w="932688"/>
                <a:gridCol w="93268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err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 °C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(raw inputs)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(+ EWMA)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71.7 %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(2 × 128)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1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58368" y="3895344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metrics do not rank the models identically — see the next slide.</a:t>
            </a:r>
            <a:endParaRPr lang="en-US" sz="1200" dirty="0"/>
          </a:p>
        </p:txBody>
      </p:sp>
      <p:pic>
        <p:nvPicPr>
          <p:cNvPr id="8" name="Image 0" descr="/home/claude/proj/figures/05_model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4224528"/>
            <a:ext cx="5257800" cy="2331673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863840" y="1627632"/>
            <a:ext cx="3639312" cy="4498848"/>
          </a:xfrm>
          <a:prstGeom prst="roundRect">
            <a:avLst>
              <a:gd name="adj" fmla="val 2010"/>
            </a:avLst>
          </a:prstGeom>
          <a:solidFill>
            <a:srgbClr val="1C2127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8183880" y="18653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model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183880" y="219456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2 × 128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183880" y="279806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1.67 °C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183880" y="314553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8183880" y="351129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0.9959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183880" y="38587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8183880" y="42245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9.84 °C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8183880" y="45720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error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83880" y="49377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81.3 %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183880" y="52852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±2 °C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results worth explaining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interpretation matters more than the table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627632"/>
            <a:ext cx="7589520" cy="1298448"/>
          </a:xfrm>
          <a:prstGeom prst="roundRect">
            <a:avLst>
              <a:gd name="adj" fmla="val 5634"/>
            </a:avLst>
          </a:prstGeom>
          <a:solidFill>
            <a:srgbClr val="F1F3F5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847088"/>
            <a:ext cx="365760" cy="36576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179222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net beat both tree ensembles.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121408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ensembles are piecewise-constant — a prediction is the mean of the training samples in a leaf, so they cannot produce a value outside the range they saw. Held-out sessions contain operating points the 64 training profiles never visit. An MLP is smooth and continues the trend. Under genuine extrapolation, smoothness is the decisive property.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658368" y="3108960"/>
            <a:ext cx="7589520" cy="1298448"/>
          </a:xfrm>
          <a:prstGeom prst="roundRect">
            <a:avLst>
              <a:gd name="adj" fmla="val 5634"/>
            </a:avLst>
          </a:prstGeom>
          <a:solidFill>
            <a:srgbClr val="F1F3F5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112" y="3328416"/>
            <a:ext cx="365760" cy="365760"/>
          </a:xfrm>
          <a:prstGeom prst="ellipse">
            <a:avLst/>
          </a:prstGeom>
          <a:solidFill>
            <a:srgbClr val="2E9E8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611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26464" y="32735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regression beat LightGBM.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26464" y="360273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features encode the thermal physics, the residual relationship is close to linear. A low-variance estimator then generalises across sessions better than a high-capacity one, which fits session-specific structure that does not transfer.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658368" y="4590288"/>
            <a:ext cx="7589520" cy="1298448"/>
          </a:xfrm>
          <a:prstGeom prst="roundRect">
            <a:avLst>
              <a:gd name="adj" fmla="val 5634"/>
            </a:avLst>
          </a:prstGeom>
          <a:solidFill>
            <a:srgbClr val="F1F3F5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4809744"/>
            <a:ext cx="365760" cy="365760"/>
          </a:xfrm>
          <a:prstGeom prst="ellipse">
            <a:avLst/>
          </a:prstGeom>
          <a:solidFill>
            <a:srgbClr val="2E9E8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4809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426464" y="475488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and worst-case error disagree.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084064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attains RMSE 2.08 °C — better than LightGBM's 2.50 °C — yet its worst case is 26.19 °C against 11.05 °C. For a thermal limit the second column governs. A model chosen on RMSE alone would have been the wrong choice.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8549640" y="1627632"/>
            <a:ext cx="2953512" cy="4443984"/>
          </a:xfrm>
          <a:prstGeom prst="roundRect">
            <a:avLst>
              <a:gd name="adj" fmla="val 2477"/>
            </a:avLst>
          </a:prstGeom>
          <a:solidFill>
            <a:srgbClr val="1C212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0" y="186537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check</a:t>
            </a:r>
            <a:endParaRPr lang="en-US" sz="1300" dirty="0"/>
          </a:p>
        </p:txBody>
      </p:sp>
      <p:pic>
        <p:nvPicPr>
          <p:cNvPr id="23" name="Image 0" descr="/home/claude/proj/figures/07_residu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2231136"/>
            <a:ext cx="2606040" cy="1271239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869680" y="3602736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8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does not grow with operating temperature.</a:t>
            </a:r>
            <a:endParaRPr lang="en-US" sz="1180" dirty="0"/>
          </a:p>
          <a:p>
            <a:pPr indent="0" marL="0">
              <a:lnSpc>
                <a:spcPts val="1700"/>
              </a:lnSpc>
              <a:buNone/>
            </a:pPr>
            <a:endParaRPr lang="en-US" sz="118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8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check that matters: a model accurate when cool and poor when hot would be useless, because the hot regime is the only one where the estimate is consulted.</a:t>
            </a:r>
            <a:endParaRPr lang="en-US" sz="11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2E9E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Tracking on motors the model has never seen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session appeared in training in any form</a:t>
            </a:r>
            <a:endParaRPr lang="en-US" sz="1400" dirty="0"/>
          </a:p>
        </p:txBody>
      </p:sp>
      <p:pic>
        <p:nvPicPr>
          <p:cNvPr id="6" name="Image 0" descr="/home/claude/proj/figures/06_predicted_vs_ac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54480"/>
            <a:ext cx="7360920" cy="510765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554480"/>
            <a:ext cx="3227832" cy="5074920"/>
          </a:xfrm>
          <a:prstGeom prst="roundRect">
            <a:avLst>
              <a:gd name="adj" fmla="val 2266"/>
            </a:avLst>
          </a:prstGeom>
          <a:solidFill>
            <a:srgbClr val="1C212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595360" y="1828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at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2249424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transients under aggressive load cycling are tracked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exponential cool-down is tracked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deviations sit at sharp transitions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595360" y="4736592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80" i="1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lag at step changes is the expected signature of a filter-based feature set meeting a change faster than its shortest time constant.</a:t>
            </a:r>
            <a:endParaRPr lang="en-US" sz="12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studies that test whether the result is real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and leakage — both with everything else held constant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609344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1F3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828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— where does the accuracy come from?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50976" y="2231136"/>
            <a:ext cx="47548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33856" y="224942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raw input channels</a:t>
            </a:r>
            <a:endParaRPr lang="en-US" sz="1220" dirty="0"/>
          </a:p>
        </p:txBody>
      </p:sp>
      <p:sp>
        <p:nvSpPr>
          <p:cNvPr id="10" name="Text 8"/>
          <p:cNvSpPr txBox="1"/>
          <p:nvPr/>
        </p:nvSpPr>
        <p:spPr>
          <a:xfrm>
            <a:off x="3785616" y="2249424"/>
            <a:ext cx="868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14.39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54296" y="2249424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0.6942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50976" y="2889504"/>
            <a:ext cx="47548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33856" y="29077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instantaneous physical terms</a:t>
            </a:r>
            <a:endParaRPr lang="en-US" sz="122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2907792"/>
            <a:ext cx="868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14.58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907792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0.6860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50976" y="3547872"/>
            <a:ext cx="47548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33856" y="356616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2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EWMA thermal history</a:t>
            </a:r>
            <a:endParaRPr lang="en-US" sz="122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3566160"/>
            <a:ext cx="868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654296" y="3566160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785616" y="19933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         R²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4334256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Instantaneous physical terms buy nothing on their own — the small regression is within run-to-run variation. Only thermal history moves the result. The gain is not from having more columns.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46520" y="1609344"/>
            <a:ext cx="5056632" cy="4206240"/>
          </a:xfrm>
          <a:prstGeom prst="roundRect">
            <a:avLst>
              <a:gd name="adj" fmla="val 1739"/>
            </a:avLst>
          </a:prstGeom>
          <a:solidFill>
            <a:srgbClr val="1C212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— the cost of the wrong split</a:t>
            </a:r>
            <a:endParaRPr lang="en-US" sz="1200" dirty="0"/>
          </a:p>
        </p:txBody>
      </p:sp>
      <p:pic>
        <p:nvPicPr>
          <p:cNvPr id="24" name="Image 0" descr="/home/claude/proj/figures/09_ablation_leak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286000"/>
            <a:ext cx="4572000" cy="1860847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6766560" y="42062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same features, only the partitioning changes. Random splitting reports R² = 0.9995 — a figure describing the model's ability to reproduce samples it has already seen in near-identical form.</a:t>
            </a:r>
            <a:endParaRPr lang="en-US" sz="1220" dirty="0"/>
          </a:p>
        </p:txBody>
      </p:sp>
      <p:sp>
        <p:nvSpPr>
          <p:cNvPr id="26" name="Text 23"/>
          <p:cNvSpPr txBox="1"/>
          <p:nvPr/>
        </p:nvSpPr>
        <p:spPr>
          <a:xfrm>
            <a:off x="6766560" y="523036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time-series sampled faster than the system's dynamics, grouped splitting is a correctness requirement, not a refinement.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2E9E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learned the physics we designed for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evidence that the result is not an artefact</a:t>
            </a:r>
            <a:endParaRPr lang="en-US" sz="1400" dirty="0"/>
          </a:p>
        </p:txBody>
      </p:sp>
      <p:pic>
        <p:nvPicPr>
          <p:cNvPr id="6" name="Image 0" descr="/home/claude/proj/figures/08_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91056"/>
            <a:ext cx="5943600" cy="397640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949440" y="1591056"/>
            <a:ext cx="4553712" cy="4224528"/>
          </a:xfrm>
          <a:prstGeom prst="roundRect">
            <a:avLst>
              <a:gd name="adj" fmla="val 1732"/>
            </a:avLst>
          </a:prstGeom>
          <a:solidFill>
            <a:srgbClr val="1C212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269480" y="18470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top-15 features are thermal history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69480" y="2340864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2A313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98080" y="2432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coolant_ewma_600s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27614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8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heat-sink boundary condition</a:t>
            </a:r>
            <a:endParaRPr lang="en-US" sz="1180" dirty="0"/>
          </a:p>
        </p:txBody>
      </p:sp>
      <p:sp>
        <p:nvSpPr>
          <p:cNvPr id="12" name="Shape 9"/>
          <p:cNvSpPr/>
          <p:nvPr/>
        </p:nvSpPr>
        <p:spPr>
          <a:xfrm>
            <a:off x="7269480" y="3310128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2A313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98080" y="3401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i_s²_ewma_600s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3730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8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copper-loss term,  P = I²R</a:t>
            </a:r>
            <a:endParaRPr lang="en-US" sz="118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4352544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exactly the two terms the lumped-parameter thermal model on slide 8 identifies as dominant.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no information about motor thermodynamics beyond which signals to filter, the model independently concentrated on them.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cheap enough to run on the drive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what makes it a replacement for a thermocouple, not an offline analysis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627632"/>
            <a:ext cx="2560320" cy="1700784"/>
          </a:xfrm>
          <a:prstGeom prst="roundRect">
            <a:avLst>
              <a:gd name="adj" fmla="val 4301"/>
            </a:avLst>
          </a:prstGeom>
          <a:solidFill>
            <a:srgbClr val="F1F3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9222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MAC/s at the 2 Hz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rate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627632"/>
            <a:ext cx="2560320" cy="1700784"/>
          </a:xfrm>
          <a:prstGeom prst="roundRect">
            <a:avLst>
              <a:gd name="adj" fmla="val 4301"/>
            </a:avLst>
          </a:prstGeom>
          <a:solidFill>
            <a:srgbClr val="F1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01568" y="179222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401568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registers for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feature extractor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44768" y="1627632"/>
            <a:ext cx="2560320" cy="1700784"/>
          </a:xfrm>
          <a:prstGeom prst="roundRect">
            <a:avLst>
              <a:gd name="adj" fmla="val 4301"/>
            </a:avLst>
          </a:prstGeom>
          <a:solidFill>
            <a:srgbClr val="F1F3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44768" y="179222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multiply-add per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feature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87968" y="1627632"/>
            <a:ext cx="2560320" cy="1700784"/>
          </a:xfrm>
          <a:prstGeom prst="roundRect">
            <a:avLst>
              <a:gd name="adj" fmla="val 4301"/>
            </a:avLst>
          </a:prstGeom>
          <a:solidFill>
            <a:srgbClr val="F1F3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887968" y="179222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887968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output precision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(Q16.16 accumulators)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" y="3584448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1C212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50976" y="378561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FEATURE EXTRACTOR IS HARDWARE-FRIENDLY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1480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EWMA is a single-pole IIR filter: one multiply, one add, one register. No windowing buffer, no stored history.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one-hour sliding-window statistic at 2 Hz would need 7,200 buffered samples per signal. The recursive form needs one.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46520" y="3584448"/>
            <a:ext cx="5056632" cy="2286000"/>
          </a:xfrm>
          <a:prstGeom prst="roundRect">
            <a:avLst>
              <a:gd name="adj" fmla="val 3200"/>
            </a:avLst>
          </a:prstGeom>
          <a:solidFill>
            <a:srgbClr val="F1F3F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0" y="37856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b="1" dirty="0">
                <a:solidFill>
                  <a:srgbClr val="2E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411480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is still 9.84 °C — a deployed limit needs a margin, just a smaller one than a fixed derating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one machine on one bench; a different design needs retraining or transfer learning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is largest at sharp load transitions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1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005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take away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347472" cy="347472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4708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objective was met.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1579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1.67 °C, R² 0.9959, 81.3 % within ±2 °C on motor sessions never seen during training.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706624"/>
            <a:ext cx="347472" cy="347472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33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not model selection, produced the result.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unchanged linear regression improves from R² 0.53 to 0.99 once its inputs encode thermal history.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3493008"/>
            <a:ext cx="347472" cy="347472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493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198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protocol changes the answer by 4×.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3075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Profile-wise splitting is a correctness requirement on data of this kind, not a refinement.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4279392"/>
            <a:ext cx="347472" cy="347472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4279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062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smooth model generalises better than tree ensembles here.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171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sessions demand extrapolation, and piecewise-constant models cannot extrapolate.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065776"/>
            <a:ext cx="347472" cy="347472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" y="506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992624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learned the intended physics.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3035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dominant features are the coolant boundary condition and the copper-loss term.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 sequence models that learn the time constants  ·  multi-output prediction of all four temperatures  ·  physics-informed loss  ·  fixed-point RTL implementation of the EWMA extractor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475488" cy="475488"/>
          </a:xfrm>
          <a:prstGeom prst="ellipse">
            <a:avLst/>
          </a:prstGeom>
          <a:solidFill>
            <a:srgbClr val="1C21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35024" y="365760"/>
            <a:ext cx="10168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1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Anticipated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35024" y="950976"/>
            <a:ext cx="10168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slide — not presented unless asked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609344"/>
            <a:ext cx="5257800" cy="1335024"/>
          </a:xfrm>
          <a:prstGeom prst="roundRect">
            <a:avLst>
              <a:gd name="adj" fmla="val 5479"/>
            </a:avLst>
          </a:prstGeom>
          <a:solidFill>
            <a:srgbClr val="F1F3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75564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8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use a lumped-parameter thermal model?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103120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exist and work, but need per-machine parameter identification on a bench. We reach comparable accuracy directly from logged data, and our features are that model's analytical solution anyway.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1609344"/>
            <a:ext cx="5257800" cy="1335024"/>
          </a:xfrm>
          <a:prstGeom prst="roundRect">
            <a:avLst>
              <a:gd name="adj" fmla="val 5479"/>
            </a:avLst>
          </a:prstGeom>
          <a:solidFill>
            <a:srgbClr val="F1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75564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8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Wouldn't keeping stator_tooth give better accuracy?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103120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and the result would be worthless. Those sensors are the hardware we are replacing; a production motor has none of them.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8368" y="3090672"/>
            <a:ext cx="5257800" cy="1335024"/>
          </a:xfrm>
          <a:prstGeom prst="roundRect">
            <a:avLst>
              <a:gd name="adj" fmla="val 5479"/>
            </a:avLst>
          </a:prstGeom>
          <a:solidFill>
            <a:srgbClr val="F1F3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3697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8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MLP beat gradient boosting?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84448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 predict the mean of a leaf, so they cannot output values beyond the training range. Held-out sessions require extrapolation; a smooth model handles it.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36208" y="3090672"/>
            <a:ext cx="5257800" cy="1335024"/>
          </a:xfrm>
          <a:prstGeom prst="roundRect">
            <a:avLst>
              <a:gd name="adj" fmla="val 5479"/>
            </a:avLst>
          </a:prstGeom>
          <a:solidFill>
            <a:srgbClr val="F1F3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323697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8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R² = 0.996 not suspiciously high?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584448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would be under a random split — we show that gives 0.9995 and is meaningless. Ours is on entirely held-out sessions, and we report the 9.84 °C worst case alongside it.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" y="4572000"/>
            <a:ext cx="5257800" cy="1335024"/>
          </a:xfrm>
          <a:prstGeom prst="roundRect">
            <a:avLst>
              <a:gd name="adj" fmla="val 5479"/>
            </a:avLst>
          </a:prstGeom>
          <a:solidFill>
            <a:srgbClr val="F1F3F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71830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8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you choose the five EWMA spans?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065776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physical time constants: copper responds in tens of seconds, iron in minutes, housing and coolant in tens of minutes. We bracketed that range and let the model weight them.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36208" y="4572000"/>
            <a:ext cx="5257800" cy="1335024"/>
          </a:xfrm>
          <a:prstGeom prst="roundRect">
            <a:avLst>
              <a:gd name="adj" fmla="val 5479"/>
            </a:avLst>
          </a:prstGeom>
          <a:solidFill>
            <a:srgbClr val="F1F3F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92240" y="471830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8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do with more time?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5065776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C21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temporal CNN or LSTM that learns the time constants instead of having them fixed, and a physics-informed loss enforcing the thermal ODE.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2026-09-14T03:39:34Z</dcterms:created>
  <dcterms:modified xsi:type="dcterms:W3CDTF">2026-09-14T03:39:34Z</dcterms:modified>
</cp:coreProperties>
</file>